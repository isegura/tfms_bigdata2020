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layfair Display"/>
      <p:regular r:id="rId24"/>
      <p:bold r:id="rId25"/>
      <p:italic r:id="rId26"/>
      <p:boldItalic r:id="rId27"/>
    </p:embeddedFont>
    <p:embeddedFont>
      <p:font typeface="Lobster"/>
      <p:regular r:id="rId28"/>
    </p:embeddedFont>
    <p:embeddedFont>
      <p:font typeface="Lato"/>
      <p:regular r:id="rId29"/>
      <p:bold r:id="rId30"/>
      <p:italic r:id="rId31"/>
      <p:boldItalic r:id="rId32"/>
    </p:embeddedFont>
    <p:embeddedFont>
      <p:font typeface="Average"/>
      <p:regular r:id="rId33"/>
    </p:embeddedFont>
    <p:embeddedFont>
      <p:font typeface="Helvetica Neue"/>
      <p:regular r:id="rId34"/>
      <p:bold r:id="rId35"/>
      <p:italic r:id="rId36"/>
      <p:boldItalic r:id="rId37"/>
    </p:embeddedFont>
    <p:embeddedFont>
      <p:font typeface="Oswal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fairDisplay-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italic.fntdata"/><Relationship Id="rId25" Type="http://schemas.openxmlformats.org/officeDocument/2006/relationships/font" Target="fonts/PlayfairDisplay-bold.fntdata"/><Relationship Id="rId28" Type="http://schemas.openxmlformats.org/officeDocument/2006/relationships/font" Target="fonts/Lobster-regular.fntdata"/><Relationship Id="rId27" Type="http://schemas.openxmlformats.org/officeDocument/2006/relationships/font" Target="fonts/PlayfairDispl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schemas.openxmlformats.org/officeDocument/2006/relationships/font" Target="fonts/Average-regular.fnt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39" Type="http://schemas.openxmlformats.org/officeDocument/2006/relationships/font" Target="fonts/Oswald-bold.fntdata"/><Relationship Id="rId16" Type="http://schemas.openxmlformats.org/officeDocument/2006/relationships/slide" Target="slides/slide11.xml"/><Relationship Id="rId38" Type="http://schemas.openxmlformats.org/officeDocument/2006/relationships/font" Target="fonts/Oswa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Freedom_of_speech" TargetMode="External"/><Relationship Id="rId3" Type="http://schemas.openxmlformats.org/officeDocument/2006/relationships/hyperlink" Target="https://en.wikipedia.org/wiki/Dignity"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sa=X&amp;bih=766&amp;biw=1440&amp;rlz=1C5GCEA_enES874ES874&amp;hl=en-GB&amp;q=Jack+Dorsey&amp;stick=H4sIAAAAAAAAAOPgE-LSz9U3yMgzLEtOVwKzTSotkvLMtBSzk63084vSE_MyqxJLMvPzUDhWyan5i1i5vRKTsxVc8ouKUyt3sDICANcrR9xOAAAA&amp;ved=2ahUKEwi-34fZ04nsAhUPrxoKHfsmDHoQmxMoATAregQIDhAD"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Vector_(mathematics)" TargetMode="External"/><Relationship Id="rId3" Type="http://schemas.openxmlformats.org/officeDocument/2006/relationships/hyperlink" Target="https://en.wikipedia.org/wiki/Real_number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af5109e31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af5109e31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9af5109e31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9af5109e31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GB"/>
              <a:t>Before </a:t>
            </a:r>
            <a:r>
              <a:rPr lang="en-GB"/>
              <a:t>beginning</a:t>
            </a:r>
            <a:r>
              <a:rPr lang="en-GB"/>
              <a:t> </a:t>
            </a:r>
            <a:r>
              <a:rPr lang="en-GB"/>
              <a:t>let's</a:t>
            </a:r>
            <a:r>
              <a:rPr lang="en-GB"/>
              <a:t> first start by defining hate. It</a:t>
            </a:r>
            <a:r>
              <a:rPr lang="en-GB"/>
              <a:t>´s any…..</a:t>
            </a:r>
            <a:endParaRPr/>
          </a:p>
          <a:p>
            <a:pPr indent="0" lvl="0" marL="0" rtl="0" algn="l">
              <a:spcBef>
                <a:spcPts val="0"/>
              </a:spcBef>
              <a:spcAft>
                <a:spcPts val="0"/>
              </a:spcAft>
              <a:buNone/>
            </a:pPr>
            <a:r>
              <a:t/>
            </a:r>
            <a:endParaRPr/>
          </a:p>
          <a:p>
            <a:pPr indent="0" lvl="0" marL="0" rtl="0" algn="l">
              <a:lnSpc>
                <a:spcPct val="115000"/>
              </a:lnSpc>
              <a:spcBef>
                <a:spcPts val="600"/>
              </a:spcBef>
              <a:spcAft>
                <a:spcPts val="600"/>
              </a:spcAft>
              <a:buNone/>
            </a:pPr>
            <a:r>
              <a:rPr lang="en-GB" sz="1200">
                <a:solidFill>
                  <a:schemeClr val="dk1"/>
                </a:solidFill>
                <a:latin typeface="Times New Roman"/>
                <a:ea typeface="Times New Roman"/>
                <a:cs typeface="Times New Roman"/>
                <a:sym typeface="Times New Roman"/>
              </a:rPr>
              <a:t>Hate speech online is situated at the meeting point between many tensions; it is an example of how highly influential technologies such as the Internet bring with them both opportunities and challenges while maintain the complex balancing between fundamental rights and principles, including </a:t>
            </a:r>
            <a:r>
              <a:rPr lang="en-GB" sz="1200" u="sng">
                <a:solidFill>
                  <a:schemeClr val="dk1"/>
                </a:solidFill>
                <a:latin typeface="Times New Roman"/>
                <a:ea typeface="Times New Roman"/>
                <a:cs typeface="Times New Roman"/>
                <a:sym typeface="Times New Roman"/>
                <a:hlinkClick r:id="rId2">
                  <a:extLst>
                    <a:ext uri="{A12FA001-AC4F-418D-AE19-62706E023703}">
                      <ahyp:hlinkClr val="tx"/>
                    </a:ext>
                  </a:extLst>
                </a:hlinkClick>
              </a:rPr>
              <a:t>freedom of expression</a:t>
            </a:r>
            <a:r>
              <a:rPr lang="en-GB" sz="1200">
                <a:solidFill>
                  <a:schemeClr val="dk1"/>
                </a:solidFill>
                <a:latin typeface="Times New Roman"/>
                <a:ea typeface="Times New Roman"/>
                <a:cs typeface="Times New Roman"/>
                <a:sym typeface="Times New Roman"/>
              </a:rPr>
              <a:t> and the defense of </a:t>
            </a:r>
            <a:r>
              <a:rPr lang="en-GB" sz="12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human dignity</a:t>
            </a:r>
            <a:r>
              <a:rPr lang="en-GB"/>
              <a:t>. Despite being definied by many organization as UN, there is no generic definition of hate, for example, in </a:t>
            </a:r>
            <a:r>
              <a:rPr lang="en-GB" sz="1050">
                <a:solidFill>
                  <a:srgbClr val="202122"/>
                </a:solidFill>
                <a:highlight>
                  <a:srgbClr val="FFFFFF"/>
                </a:highlight>
              </a:rPr>
              <a:t>the United States, much of what falls under the category of "hate speech" is constitutionally protected unlike other </a:t>
            </a:r>
            <a:r>
              <a:rPr lang="en-GB" sz="1050">
                <a:solidFill>
                  <a:srgbClr val="202122"/>
                </a:solidFill>
                <a:highlight>
                  <a:srgbClr val="FFFFFF"/>
                </a:highlight>
              </a:rPr>
              <a:t>european</a:t>
            </a:r>
            <a:r>
              <a:rPr lang="en-GB" sz="1050">
                <a:solidFill>
                  <a:srgbClr val="202122"/>
                </a:solidFill>
                <a:highlight>
                  <a:srgbClr val="FFFFFF"/>
                </a:highlight>
              </a:rPr>
              <a:t> </a:t>
            </a:r>
            <a:r>
              <a:rPr lang="en-GB" sz="1050">
                <a:solidFill>
                  <a:srgbClr val="202122"/>
                </a:solidFill>
                <a:highlight>
                  <a:srgbClr val="FFFFFF"/>
                </a:highlight>
              </a:rPr>
              <a:t>countries.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9af5109e31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9af5109e31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Following to the importance of hate detection, this month, facebook software engineer quit in protest after mark zuckerberg refused to remove Donald Trump</a:t>
            </a:r>
            <a:r>
              <a:rPr lang="en-GB"/>
              <a:t>´s </a:t>
            </a:r>
            <a:r>
              <a:rPr lang="en-GB"/>
              <a:t>post about some black people stealing from shops during </a:t>
            </a:r>
            <a:r>
              <a:rPr lang="en-GB">
                <a:solidFill>
                  <a:schemeClr val="dk1"/>
                </a:solidFill>
              </a:rPr>
              <a:t>Blach lives matter </a:t>
            </a:r>
            <a:r>
              <a:rPr lang="en-GB"/>
              <a:t>protesting, which </a:t>
            </a:r>
            <a:r>
              <a:rPr lang="en-GB"/>
              <a:t>clearly gives the green lights for people to use guns protecting their shops instead of the state. Days after that, Facebook failed to </a:t>
            </a:r>
            <a:r>
              <a:rPr lang="en-GB" sz="1200">
                <a:solidFill>
                  <a:schemeClr val="dk1"/>
                </a:solidFill>
                <a:latin typeface="Times New Roman"/>
                <a:ea typeface="Times New Roman"/>
                <a:cs typeface="Times New Roman"/>
                <a:sym typeface="Times New Roman"/>
              </a:rPr>
              <a:t>remove a Facebook event, which leads to black protest shooting in the USA. Accordingly, facebook has gained bad publicity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9af5109e31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9af5109e31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Therefore, its important to remove hateful content to protect the lives and dignity of people for </a:t>
            </a:r>
            <a:r>
              <a:rPr lang="en-GB"/>
              <a:t>a good cause.</a:t>
            </a:r>
            <a:endParaRPr/>
          </a:p>
          <a:p>
            <a:pPr indent="0" lvl="0" marL="0" rtl="0" algn="l">
              <a:spcBef>
                <a:spcPts val="0"/>
              </a:spcBef>
              <a:spcAft>
                <a:spcPts val="0"/>
              </a:spcAft>
              <a:buNone/>
            </a:pPr>
            <a:r>
              <a:rPr lang="en-GB"/>
              <a:t>As an example, twitter founder</a:t>
            </a:r>
            <a:r>
              <a:rPr lang="en-GB" sz="1050">
                <a:solidFill>
                  <a:srgbClr val="222222"/>
                </a:solidFill>
                <a:highlight>
                  <a:srgbClr val="FFFFFF"/>
                </a:highlight>
              </a:rPr>
              <a:t> </a:t>
            </a:r>
            <a:r>
              <a:rPr lang="en-GB" sz="1050" u="sng">
                <a:solidFill>
                  <a:srgbClr val="1A0DAB"/>
                </a:solidFill>
                <a:highlight>
                  <a:srgbClr val="FFFFFF"/>
                </a:highlight>
                <a:hlinkClick r:id="rId2">
                  <a:extLst>
                    <a:ext uri="{A12FA001-AC4F-418D-AE19-62706E023703}">
                      <ahyp:hlinkClr val="tx"/>
                    </a:ext>
                  </a:extLst>
                </a:hlinkClick>
              </a:rPr>
              <a:t>Jack Dorsey</a:t>
            </a:r>
            <a:r>
              <a:rPr lang="en-GB"/>
              <a:t>, had put glorifying violence tag on the tweet despite the huge pressure put on by the white house´s influence. Accordingly, the twitter build a </a:t>
            </a:r>
            <a:r>
              <a:rPr lang="en-GB"/>
              <a:t>positive</a:t>
            </a:r>
            <a:r>
              <a:rPr lang="en-GB"/>
              <a:t> </a:t>
            </a:r>
            <a:r>
              <a:rPr lang="en-GB"/>
              <a:t>reputation</a:t>
            </a:r>
            <a:r>
              <a:rPr lang="en-GB"/>
              <a:t> in the market, which lead to </a:t>
            </a:r>
            <a:r>
              <a:rPr lang="en-GB"/>
              <a:t>business</a:t>
            </a:r>
            <a:r>
              <a:rPr lang="en-GB"/>
              <a:t> growth as more users want to use twitter and more business wants to advertise on twitter.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9af5109e31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9af5109e31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moving to the objectives of the project, which consists of 4 As. Acquire…...Assess.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9af5109e31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9af5109e31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Lets begin the approach by </a:t>
            </a:r>
            <a:r>
              <a:rPr lang="en-GB" sz="1200">
                <a:solidFill>
                  <a:schemeClr val="dk1"/>
                </a:solidFill>
                <a:latin typeface="Times New Roman"/>
                <a:ea typeface="Times New Roman"/>
                <a:cs typeface="Times New Roman"/>
                <a:sym typeface="Times New Roman"/>
              </a:rPr>
              <a:t>introducing</a:t>
            </a:r>
            <a:r>
              <a:rPr lang="en-GB" sz="1200">
                <a:solidFill>
                  <a:schemeClr val="dk1"/>
                </a:solidFill>
                <a:latin typeface="Times New Roman"/>
                <a:ea typeface="Times New Roman"/>
                <a:cs typeface="Times New Roman"/>
                <a:sym typeface="Times New Roman"/>
              </a:rPr>
              <a:t> the dataset used consists of 32 thousand tweets gathered from twitter over a specific period of time </a:t>
            </a:r>
            <a:r>
              <a:rPr lang="en-GB"/>
              <a:t>identified by internet users as hate speech, compiled by Hatebase.org, which was then </a:t>
            </a:r>
            <a:r>
              <a:rPr lang="en-GB"/>
              <a:t>labelled</a:t>
            </a:r>
            <a:r>
              <a:rPr lang="en-GB"/>
              <a:t> by CrowdFlower (CF) annotators.the dataset have been split into 3 partitions train 80, validation 10 and test 10%. The hate tweets class are 2,242 tweets,while the non hate ones are 29,720, </a:t>
            </a:r>
            <a:r>
              <a:rPr lang="en-GB"/>
              <a:t>which</a:t>
            </a:r>
            <a:r>
              <a:rPr lang="en-GB"/>
              <a:t> shows the </a:t>
            </a:r>
            <a:r>
              <a:rPr lang="en-GB">
                <a:solidFill>
                  <a:schemeClr val="dk1"/>
                </a:solidFill>
              </a:rPr>
              <a:t>imbalance between </a:t>
            </a:r>
            <a:r>
              <a:rPr lang="en-GB"/>
              <a:t>classes. This </a:t>
            </a:r>
            <a:r>
              <a:rPr lang="en-GB"/>
              <a:t>imbalance</a:t>
            </a:r>
            <a:r>
              <a:rPr lang="en-GB"/>
              <a:t> will be fixed by modified the class weights of the models, which will be the next topic.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9af5109e31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9af5109e31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600"/>
              </a:spcAft>
              <a:buNone/>
            </a:pPr>
            <a:r>
              <a:rPr lang="en-GB" sz="1200">
                <a:solidFill>
                  <a:schemeClr val="dk1"/>
                </a:solidFill>
                <a:latin typeface="Times New Roman"/>
                <a:ea typeface="Times New Roman"/>
                <a:cs typeface="Times New Roman"/>
                <a:sym typeface="Times New Roman"/>
              </a:rPr>
              <a:t>After pre-processing, First approach is classifiers trained based on the Bidirectional LSTM neural network.let have a quick overview about the model before explaining it </a:t>
            </a:r>
            <a:r>
              <a:rPr lang="en-GB" sz="1200">
                <a:solidFill>
                  <a:schemeClr val="dk1"/>
                </a:solidFill>
                <a:latin typeface="Times New Roman"/>
                <a:ea typeface="Times New Roman"/>
                <a:cs typeface="Times New Roman"/>
                <a:sym typeface="Times New Roman"/>
              </a:rPr>
              <a:t>thoroughly</a:t>
            </a:r>
            <a:r>
              <a:rPr lang="en-GB" sz="1200">
                <a:solidFill>
                  <a:schemeClr val="dk1"/>
                </a:solidFill>
                <a:latin typeface="Times New Roman"/>
                <a:ea typeface="Times New Roman"/>
                <a:cs typeface="Times New Roman"/>
                <a:sym typeface="Times New Roman"/>
              </a:rPr>
              <a:t> along the presentation. </a:t>
            </a:r>
            <a:r>
              <a:rPr lang="en-GB" sz="1200">
                <a:solidFill>
                  <a:schemeClr val="dk1"/>
                </a:solidFill>
                <a:latin typeface="Times New Roman"/>
                <a:ea typeface="Times New Roman"/>
                <a:cs typeface="Times New Roman"/>
                <a:sym typeface="Times New Roman"/>
              </a:rPr>
              <a:t>Firstly</a:t>
            </a:r>
            <a:r>
              <a:rPr lang="en-GB" sz="1200">
                <a:solidFill>
                  <a:schemeClr val="dk1"/>
                </a:solidFill>
                <a:latin typeface="Times New Roman"/>
                <a:ea typeface="Times New Roman"/>
                <a:cs typeface="Times New Roman"/>
                <a:sym typeface="Times New Roman"/>
              </a:rPr>
              <a:t>, the tweets are </a:t>
            </a:r>
            <a:r>
              <a:rPr lang="en-GB" sz="1200">
                <a:solidFill>
                  <a:schemeClr val="dk1"/>
                </a:solidFill>
                <a:latin typeface="Times New Roman"/>
                <a:ea typeface="Times New Roman"/>
                <a:cs typeface="Times New Roman"/>
                <a:sym typeface="Times New Roman"/>
              </a:rPr>
              <a:t>tokenized</a:t>
            </a:r>
            <a:r>
              <a:rPr lang="en-GB" sz="1200">
                <a:solidFill>
                  <a:schemeClr val="dk1"/>
                </a:solidFill>
                <a:latin typeface="Times New Roman"/>
                <a:ea typeface="Times New Roman"/>
                <a:cs typeface="Times New Roman"/>
                <a:sym typeface="Times New Roman"/>
              </a:rPr>
              <a:t>, which means spitting them into words while removing punctuations as </a:t>
            </a:r>
            <a:r>
              <a:rPr lang="en-GB" sz="1200">
                <a:solidFill>
                  <a:schemeClr val="dk1"/>
                </a:solidFill>
                <a:latin typeface="Times New Roman"/>
                <a:ea typeface="Times New Roman"/>
                <a:cs typeface="Times New Roman"/>
                <a:sym typeface="Times New Roman"/>
              </a:rPr>
              <a:t>hashtags and </a:t>
            </a:r>
            <a:r>
              <a:rPr lang="en-GB" sz="1200">
                <a:solidFill>
                  <a:schemeClr val="dk1"/>
                </a:solidFill>
                <a:latin typeface="Times New Roman"/>
                <a:ea typeface="Times New Roman"/>
                <a:cs typeface="Times New Roman"/>
                <a:sym typeface="Times New Roman"/>
              </a:rPr>
              <a:t>usernames then converting them into lower case. The tokens then pass to the embedding layer, which represent tokens </a:t>
            </a:r>
            <a:r>
              <a:rPr lang="en-GB" sz="1050">
                <a:solidFill>
                  <a:srgbClr val="202122"/>
                </a:solidFill>
                <a:highlight>
                  <a:srgbClr val="FFFFFF"/>
                </a:highlight>
              </a:rPr>
              <a:t>to a m</a:t>
            </a:r>
            <a:r>
              <a:rPr lang="en-GB" sz="1050">
                <a:solidFill>
                  <a:srgbClr val="202122"/>
                </a:solidFill>
                <a:highlight>
                  <a:srgbClr val="FFFFFF"/>
                </a:highlight>
              </a:rPr>
              <a:t>apped </a:t>
            </a:r>
            <a:r>
              <a:rPr lang="en-GB" sz="1050">
                <a:solidFill>
                  <a:srgbClr val="0B0080"/>
                </a:solidFill>
                <a:highlight>
                  <a:srgbClr val="FFFFFF"/>
                </a:highlight>
                <a:uFill>
                  <a:noFill/>
                </a:uFill>
                <a:hlinkClick r:id="rId2">
                  <a:extLst>
                    <a:ext uri="{A12FA001-AC4F-418D-AE19-62706E023703}">
                      <ahyp:hlinkClr val="tx"/>
                    </a:ext>
                  </a:extLst>
                </a:hlinkClick>
              </a:rPr>
              <a:t>vectors</a:t>
            </a:r>
            <a:r>
              <a:rPr lang="en-GB" sz="1050">
                <a:solidFill>
                  <a:srgbClr val="202122"/>
                </a:solidFill>
                <a:highlight>
                  <a:srgbClr val="FFFFFF"/>
                </a:highlight>
              </a:rPr>
              <a:t> of </a:t>
            </a:r>
            <a:r>
              <a:rPr lang="en-GB" sz="1050">
                <a:solidFill>
                  <a:srgbClr val="0B0080"/>
                </a:solidFill>
                <a:highlight>
                  <a:srgbClr val="FFFFFF"/>
                </a:highlight>
                <a:uFill>
                  <a:noFill/>
                </a:uFill>
                <a:hlinkClick r:id="rId3">
                  <a:extLst>
                    <a:ext uri="{A12FA001-AC4F-418D-AE19-62706E023703}">
                      <ahyp:hlinkClr val="tx"/>
                    </a:ext>
                  </a:extLst>
                </a:hlinkClick>
              </a:rPr>
              <a:t>real numbers</a:t>
            </a:r>
            <a:r>
              <a:rPr lang="en-GB" sz="1050">
                <a:solidFill>
                  <a:srgbClr val="202122"/>
                </a:solidFill>
                <a:highlight>
                  <a:srgbClr val="FFFFFF"/>
                </a:highlight>
              </a:rPr>
              <a:t>. After that, information pass through BI-LSTM layer composed of </a:t>
            </a:r>
            <a:r>
              <a:rPr lang="en-GB" sz="1200">
                <a:solidFill>
                  <a:schemeClr val="dk1"/>
                </a:solidFill>
                <a:latin typeface="Times New Roman"/>
                <a:ea typeface="Times New Roman"/>
                <a:cs typeface="Times New Roman"/>
                <a:sym typeface="Times New Roman"/>
              </a:rPr>
              <a:t>128 units. Then, infomation pass into two Fully connected layers, which are responsible for further feature extraction by compiling it, which is composed of 40 and 20 units respectively. Finally, an output sigmoid layer is the final layer to classify the tweet into 1 meaning hateful or 0 meaning neutral.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af5109e31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af5109e31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For word </a:t>
            </a:r>
            <a:r>
              <a:rPr lang="en-GB" sz="1200">
                <a:solidFill>
                  <a:schemeClr val="dk1"/>
                </a:solidFill>
                <a:latin typeface="Times New Roman"/>
                <a:ea typeface="Times New Roman"/>
                <a:cs typeface="Times New Roman"/>
                <a:sym typeface="Times New Roman"/>
              </a:rPr>
              <a:t>embedding</a:t>
            </a:r>
            <a:r>
              <a:rPr lang="en-GB" sz="1200">
                <a:solidFill>
                  <a:schemeClr val="dk1"/>
                </a:solidFill>
                <a:latin typeface="Times New Roman"/>
                <a:ea typeface="Times New Roman"/>
                <a:cs typeface="Times New Roman"/>
                <a:sym typeface="Times New Roman"/>
              </a:rPr>
              <a:t>, glove </a:t>
            </a:r>
            <a:r>
              <a:rPr lang="en-GB" sz="1200">
                <a:solidFill>
                  <a:schemeClr val="dk1"/>
                </a:solidFill>
                <a:latin typeface="Times New Roman"/>
                <a:ea typeface="Times New Roman"/>
                <a:cs typeface="Times New Roman"/>
                <a:sym typeface="Times New Roman"/>
              </a:rPr>
              <a:t>pre-trained word vectors glove.6B.100d, which contains 6 B tokens of 400 k vocab forming a 100 dimension vector representation gathered form Wikipedia 2014 and Gigaword 5 corpora. </a:t>
            </a:r>
            <a:r>
              <a:rPr lang="en-GB"/>
              <a:t>The vector space representation can be simulated in the photos </a:t>
            </a:r>
            <a:r>
              <a:rPr lang="en-GB"/>
              <a:t>where words are represented with vectors form 2 dimension, and these vectors are able to capture semantic relationships between words (and then you can explain these pictures).</a:t>
            </a:r>
            <a:r>
              <a:rPr lang="en-GB" sz="1200">
                <a:solidFill>
                  <a:schemeClr val="dk1"/>
                </a:solidFill>
                <a:latin typeface="Times New Roman"/>
                <a:ea typeface="Times New Roman"/>
                <a:cs typeface="Times New Roman"/>
                <a:sym typeface="Times New Roman"/>
              </a:rPr>
              <a:t>Words are then represented into a matrix using the glove </a:t>
            </a:r>
            <a:r>
              <a:rPr lang="en-GB" sz="1200">
                <a:solidFill>
                  <a:schemeClr val="dk1"/>
                </a:solidFill>
                <a:latin typeface="Times New Roman"/>
                <a:ea typeface="Times New Roman"/>
                <a:cs typeface="Times New Roman"/>
                <a:sym typeface="Times New Roman"/>
              </a:rPr>
              <a:t>pre trained</a:t>
            </a:r>
            <a:r>
              <a:rPr lang="en-GB" sz="1200">
                <a:solidFill>
                  <a:schemeClr val="dk1"/>
                </a:solidFill>
                <a:latin typeface="Times New Roman"/>
                <a:ea typeface="Times New Roman"/>
                <a:cs typeface="Times New Roman"/>
                <a:sym typeface="Times New Roman"/>
              </a:rPr>
              <a:t> file, which act as a lookup table. The glove representation is based upon an actual probability of occurrence of words together</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9af5109e31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9af5109e31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af5109e31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9af5109e31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9af5109e31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9af5109e31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 should say that this is your second approach. Please, add the reference for BERT.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9af5109e31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9af5109e31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GB"/>
              <a:t>Please, add the number of the accuracy for each approach.</a:t>
            </a:r>
            <a:endParaRPr/>
          </a:p>
          <a:p>
            <a:pPr indent="-298450" lvl="0" marL="457200" rtl="0" algn="l">
              <a:spcBef>
                <a:spcPts val="0"/>
              </a:spcBef>
              <a:spcAft>
                <a:spcPts val="0"/>
              </a:spcAft>
              <a:buSzPts val="1100"/>
              <a:buAutoNum type="arabicParenR"/>
            </a:pPr>
            <a:r>
              <a:rPr lang="en-GB"/>
              <a:t>Your numbers should have two decimals</a:t>
            </a:r>
            <a:endParaRPr/>
          </a:p>
          <a:p>
            <a:pPr indent="-298450" lvl="0" marL="457200" rtl="0" algn="l">
              <a:spcBef>
                <a:spcPts val="0"/>
              </a:spcBef>
              <a:spcAft>
                <a:spcPts val="0"/>
              </a:spcAft>
              <a:buSzPts val="1100"/>
              <a:buAutoNum type="arabicParenR"/>
            </a:pPr>
            <a:r>
              <a:rPr lang="en-GB"/>
              <a:t>I think that for F1-Score, you should also use a bar chat. </a:t>
            </a:r>
            <a:endParaRPr/>
          </a:p>
          <a:p>
            <a:pPr indent="0" lvl="0" marL="45720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9af5109e31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9af5109e31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Lstm was wrong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Was BERT right?. Then, you should add this information in the slide (False positive for LSTM, but True positive for BERT)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You should give some possible cause of this FN.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9af5109e31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9af5109e31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Bert was wrong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Was BERT right?. Then, you should add this information in the slide (False positive for LSTM, but True positive for BERT)</a:t>
            </a:r>
            <a:endParaRPr>
              <a:solidFill>
                <a:schemeClr val="dk1"/>
              </a:solidFill>
            </a:endParaRPr>
          </a:p>
          <a:p>
            <a:pPr indent="0" lvl="0" marL="0" rtl="0" algn="l">
              <a:spcBef>
                <a:spcPts val="0"/>
              </a:spcBef>
              <a:spcAft>
                <a:spcPts val="0"/>
              </a:spcAft>
              <a:buNone/>
            </a:pPr>
            <a:r>
              <a:rPr lang="en-GB"/>
              <a:t>Or maybe, both approaches were wrong. Please, tell it in the slide.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should give some possible cause of this FN.</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9af5109e31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9af5109e31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9af5109e31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9af5109e31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 should include a slide for conclusion. For example, </a:t>
            </a:r>
            <a:endParaRPr/>
          </a:p>
          <a:p>
            <a:pPr indent="0" lvl="0" marL="0" rtl="0" algn="l">
              <a:spcBef>
                <a:spcPts val="0"/>
              </a:spcBef>
              <a:spcAft>
                <a:spcPts val="0"/>
              </a:spcAft>
              <a:buNone/>
            </a:pPr>
            <a:r>
              <a:rPr lang="en-GB"/>
              <a:t>BERT achieves the best results.</a:t>
            </a:r>
            <a:endParaRPr/>
          </a:p>
          <a:p>
            <a:pPr indent="0" lvl="0" marL="0" rtl="0" algn="l">
              <a:spcBef>
                <a:spcPts val="0"/>
              </a:spcBef>
              <a:spcAft>
                <a:spcPts val="0"/>
              </a:spcAft>
              <a:buNone/>
            </a:pPr>
            <a:r>
              <a:rPr lang="en-GB"/>
              <a:t>Your two approaches (BiLSTM and BERT) overcome previous work (Davidson)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Future work:</a:t>
            </a:r>
            <a:endParaRPr/>
          </a:p>
          <a:p>
            <a:pPr indent="-298450" lvl="0" marL="457200" rtl="0" algn="l">
              <a:spcBef>
                <a:spcPts val="0"/>
              </a:spcBef>
              <a:spcAft>
                <a:spcPts val="0"/>
              </a:spcAft>
              <a:buSzPts val="1100"/>
              <a:buAutoNum type="arabicParenR"/>
            </a:pPr>
            <a:r>
              <a:rPr lang="en-GB"/>
              <a:t>Create a bigger training dataset.</a:t>
            </a:r>
            <a:endParaRPr/>
          </a:p>
          <a:p>
            <a:pPr indent="-298450" lvl="0" marL="457200" rtl="0" algn="l">
              <a:spcBef>
                <a:spcPts val="0"/>
              </a:spcBef>
              <a:spcAft>
                <a:spcPts val="0"/>
              </a:spcAft>
              <a:buSzPts val="1100"/>
              <a:buAutoNum type="arabicParenR"/>
            </a:pPr>
            <a:r>
              <a:rPr lang="en-GB"/>
              <a:t>Study other deep learning architectures (for example, CNN, Deep CNN, CNN+Bi-LSTM, other transformers)</a:t>
            </a:r>
            <a:endParaRPr/>
          </a:p>
          <a:p>
            <a:pPr indent="-298450" lvl="0" marL="457200" rtl="0" algn="l">
              <a:spcBef>
                <a:spcPts val="0"/>
              </a:spcBef>
              <a:spcAft>
                <a:spcPts val="0"/>
              </a:spcAft>
              <a:buSzPts val="1100"/>
              <a:buAutoNum type="arabicParenR"/>
            </a:pPr>
            <a:r>
              <a:rPr lang="en-GB"/>
              <a:t>Study the effect of pre-trained word embeddings models for initialization for the deep learning networks</a:t>
            </a:r>
            <a:endParaRPr/>
          </a:p>
          <a:p>
            <a:pPr indent="-298450" lvl="0" marL="457200" rtl="0" algn="l">
              <a:spcBef>
                <a:spcPts val="0"/>
              </a:spcBef>
              <a:spcAft>
                <a:spcPts val="0"/>
              </a:spcAft>
              <a:buSzPts val="1100"/>
              <a:buAutoNum type="arabicParenR"/>
            </a:pPr>
            <a:r>
              <a:rPr lang="en-GB"/>
              <a:t>Train word embeddings models from Twitter data capable to represent non-standard features languages (such as slang words, hashtags, abbreviations, etc). </a:t>
            </a:r>
            <a:endParaRPr/>
          </a:p>
          <a:p>
            <a:pPr indent="-298450" lvl="0" marL="457200" rtl="0" algn="l">
              <a:spcBef>
                <a:spcPts val="0"/>
              </a:spcBef>
              <a:spcAft>
                <a:spcPts val="0"/>
              </a:spcAft>
              <a:buSzPts val="1100"/>
              <a:buAutoNum type="arabicParenR"/>
            </a:pPr>
            <a:r>
              <a:rPr lang="en-GB"/>
              <a:t>I don’t like the second picture. What do you mean with this picture?</a:t>
            </a:r>
            <a:endParaRPr/>
          </a:p>
          <a:p>
            <a:pPr indent="-298450" lvl="0" marL="457200" rtl="0" algn="l">
              <a:spcBef>
                <a:spcPts val="0"/>
              </a:spcBef>
              <a:spcAft>
                <a:spcPts val="0"/>
              </a:spcAft>
              <a:buSzPts val="1100"/>
              <a:buAutoNum type="arabicParenR"/>
            </a:pPr>
            <a:r>
              <a:rPr lang="en-GB"/>
              <a:t>Regarding the third picture, dragon refers to hate???... I think that you should use a Spanish tweet with a hate message…. </a:t>
            </a:r>
            <a:endParaRPr/>
          </a:p>
          <a:p>
            <a:pPr indent="0" lvl="0" marL="45720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9af5109e31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9af5109e31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Please, add a “Thanks!!!”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rgbClr val="1C458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0" y="291775"/>
            <a:ext cx="3668100" cy="310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3900">
                <a:latin typeface="Trebuchet MS"/>
                <a:ea typeface="Trebuchet MS"/>
                <a:cs typeface="Trebuchet MS"/>
                <a:sym typeface="Trebuchet MS"/>
              </a:rPr>
              <a:t>Hate detection by NLP and deep learning methods</a:t>
            </a:r>
            <a:endParaRPr b="1" sz="6100">
              <a:latin typeface="Trebuchet MS"/>
              <a:ea typeface="Trebuchet MS"/>
              <a:cs typeface="Trebuchet MS"/>
              <a:sym typeface="Trebuchet MS"/>
            </a:endParaRPr>
          </a:p>
        </p:txBody>
      </p:sp>
      <p:sp>
        <p:nvSpPr>
          <p:cNvPr id="60" name="Google Shape;60;p13"/>
          <p:cNvSpPr txBox="1"/>
          <p:nvPr>
            <p:ph idx="1" type="subTitle"/>
          </p:nvPr>
        </p:nvSpPr>
        <p:spPr>
          <a:xfrm>
            <a:off x="671250" y="3510975"/>
            <a:ext cx="7801500" cy="998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600">
                <a:solidFill>
                  <a:schemeClr val="dk1"/>
                </a:solidFill>
                <a:latin typeface="Trebuchet MS"/>
                <a:ea typeface="Trebuchet MS"/>
                <a:cs typeface="Trebuchet MS"/>
                <a:sym typeface="Trebuchet MS"/>
              </a:rPr>
              <a:t>Presented By: Rami Abulfadl </a:t>
            </a:r>
            <a:endParaRPr sz="1600">
              <a:solidFill>
                <a:schemeClr val="dk1"/>
              </a:solidFill>
              <a:latin typeface="Trebuchet MS"/>
              <a:ea typeface="Trebuchet MS"/>
              <a:cs typeface="Trebuchet MS"/>
              <a:sym typeface="Trebuchet MS"/>
            </a:endParaRPr>
          </a:p>
          <a:p>
            <a:pPr indent="0" lvl="0" marL="0" rtl="0" algn="ctr">
              <a:lnSpc>
                <a:spcPct val="115000"/>
              </a:lnSpc>
              <a:spcBef>
                <a:spcPts val="0"/>
              </a:spcBef>
              <a:spcAft>
                <a:spcPts val="0"/>
              </a:spcAft>
              <a:buNone/>
            </a:pPr>
            <a:r>
              <a:rPr lang="en-GB" sz="1600">
                <a:solidFill>
                  <a:schemeClr val="dk1"/>
                </a:solidFill>
                <a:latin typeface="Trebuchet MS"/>
                <a:ea typeface="Trebuchet MS"/>
                <a:cs typeface="Trebuchet MS"/>
                <a:sym typeface="Trebuchet MS"/>
              </a:rPr>
              <a:t>Advisor: Isabel Segura-Bedmar</a:t>
            </a:r>
            <a:endParaRPr sz="1600">
              <a:solidFill>
                <a:schemeClr val="dk1"/>
              </a:solidFill>
              <a:latin typeface="Trebuchet MS"/>
              <a:ea typeface="Trebuchet MS"/>
              <a:cs typeface="Trebuchet MS"/>
              <a:sym typeface="Trebuchet MS"/>
            </a:endParaRPr>
          </a:p>
          <a:p>
            <a:pPr indent="0" lvl="0" marL="0" marR="0" rtl="0" algn="ctr">
              <a:lnSpc>
                <a:spcPct val="115000"/>
              </a:lnSpc>
              <a:spcBef>
                <a:spcPts val="0"/>
              </a:spcBef>
              <a:spcAft>
                <a:spcPts val="0"/>
              </a:spcAft>
              <a:buNone/>
            </a:pPr>
            <a:r>
              <a:rPr lang="en-GB" sz="1600">
                <a:solidFill>
                  <a:schemeClr val="dk1"/>
                </a:solidFill>
                <a:latin typeface="Trebuchet MS"/>
                <a:ea typeface="Trebuchet MS"/>
                <a:cs typeface="Trebuchet MS"/>
                <a:sym typeface="Trebuchet MS"/>
              </a:rPr>
              <a:t>Masters in Big Data | September 2020</a:t>
            </a:r>
            <a:endParaRPr sz="1600">
              <a:solidFill>
                <a:schemeClr val="dk1"/>
              </a:solidFill>
              <a:latin typeface="Trebuchet MS"/>
              <a:ea typeface="Trebuchet MS"/>
              <a:cs typeface="Trebuchet MS"/>
              <a:sym typeface="Trebuchet MS"/>
            </a:endParaRPr>
          </a:p>
          <a:p>
            <a:pPr indent="0" lvl="0" marL="0" rtl="0" algn="ctr">
              <a:lnSpc>
                <a:spcPct val="115000"/>
              </a:lnSpc>
              <a:spcBef>
                <a:spcPts val="0"/>
              </a:spcBef>
              <a:spcAft>
                <a:spcPts val="0"/>
              </a:spcAft>
              <a:buNone/>
            </a:pPr>
            <a:r>
              <a:t/>
            </a:r>
            <a:endParaRPr sz="1600">
              <a:solidFill>
                <a:schemeClr val="dk1"/>
              </a:solidFill>
              <a:latin typeface="Trebuchet MS"/>
              <a:ea typeface="Trebuchet MS"/>
              <a:cs typeface="Trebuchet MS"/>
              <a:sym typeface="Trebuchet MS"/>
            </a:endParaRPr>
          </a:p>
          <a:p>
            <a:pPr indent="0" lvl="0" marL="0" rtl="0" algn="ctr">
              <a:spcBef>
                <a:spcPts val="0"/>
              </a:spcBef>
              <a:spcAft>
                <a:spcPts val="0"/>
              </a:spcAft>
              <a:buNone/>
            </a:pPr>
            <a:r>
              <a:t/>
            </a:r>
            <a:endParaRPr/>
          </a:p>
        </p:txBody>
      </p:sp>
      <p:sp>
        <p:nvSpPr>
          <p:cNvPr id="61" name="Google Shape;61;p13"/>
          <p:cNvSpPr txBox="1"/>
          <p:nvPr/>
        </p:nvSpPr>
        <p:spPr>
          <a:xfrm>
            <a:off x="2144200" y="355400"/>
            <a:ext cx="713100" cy="2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00FF"/>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62" name="Google Shape;62;p13"/>
          <p:cNvPicPr preferRelativeResize="0"/>
          <p:nvPr/>
        </p:nvPicPr>
        <p:blipFill rotWithShape="1">
          <a:blip r:embed="rId3">
            <a:alphaModFix/>
          </a:blip>
          <a:srcRect b="27304" l="0" r="0" t="25682"/>
          <a:stretch/>
        </p:blipFill>
        <p:spPr>
          <a:xfrm>
            <a:off x="6467675" y="101625"/>
            <a:ext cx="2537850" cy="1193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Content</a:t>
            </a:r>
            <a:endParaRPr/>
          </a:p>
        </p:txBody>
      </p:sp>
      <p:sp>
        <p:nvSpPr>
          <p:cNvPr id="68" name="Google Shape;68;p14"/>
          <p:cNvSpPr txBox="1"/>
          <p:nvPr>
            <p:ph idx="1" type="body"/>
          </p:nvPr>
        </p:nvSpPr>
        <p:spPr>
          <a:xfrm>
            <a:off x="311700" y="1431050"/>
            <a:ext cx="8520600" cy="31377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SzPts val="2000"/>
              <a:buFont typeface="Arial"/>
              <a:buChar char="●"/>
            </a:pPr>
            <a:r>
              <a:rPr lang="en-GB" sz="2200">
                <a:latin typeface="Playfair Display"/>
                <a:ea typeface="Playfair Display"/>
                <a:cs typeface="Playfair Display"/>
                <a:sym typeface="Playfair Display"/>
              </a:rPr>
              <a:t>Definition and Motivation</a:t>
            </a:r>
            <a:endParaRPr sz="2200">
              <a:latin typeface="Playfair Display"/>
              <a:ea typeface="Playfair Display"/>
              <a:cs typeface="Playfair Display"/>
              <a:sym typeface="Playfair Display"/>
            </a:endParaRPr>
          </a:p>
          <a:p>
            <a:pPr indent="-355600" lvl="0" marL="457200" rtl="0" algn="l">
              <a:lnSpc>
                <a:spcPct val="150000"/>
              </a:lnSpc>
              <a:spcBef>
                <a:spcPts val="0"/>
              </a:spcBef>
              <a:spcAft>
                <a:spcPts val="0"/>
              </a:spcAft>
              <a:buSzPts val="2000"/>
              <a:buFont typeface="Arial"/>
              <a:buChar char="●"/>
            </a:pPr>
            <a:r>
              <a:rPr lang="en-GB" sz="2200">
                <a:latin typeface="Playfair Display"/>
                <a:ea typeface="Playfair Display"/>
                <a:cs typeface="Playfair Display"/>
                <a:sym typeface="Playfair Display"/>
              </a:rPr>
              <a:t>Objectives </a:t>
            </a:r>
            <a:endParaRPr sz="2200">
              <a:latin typeface="Playfair Display"/>
              <a:ea typeface="Playfair Display"/>
              <a:cs typeface="Playfair Display"/>
              <a:sym typeface="Playfair Display"/>
            </a:endParaRPr>
          </a:p>
          <a:p>
            <a:pPr indent="-355600" lvl="0" marL="457200" rtl="0" algn="l">
              <a:lnSpc>
                <a:spcPct val="150000"/>
              </a:lnSpc>
              <a:spcBef>
                <a:spcPts val="0"/>
              </a:spcBef>
              <a:spcAft>
                <a:spcPts val="0"/>
              </a:spcAft>
              <a:buSzPts val="2000"/>
              <a:buFont typeface="Arial"/>
              <a:buChar char="●"/>
            </a:pPr>
            <a:r>
              <a:rPr lang="en-GB" sz="2200">
                <a:latin typeface="Playfair Display"/>
                <a:ea typeface="Playfair Display"/>
                <a:cs typeface="Playfair Display"/>
                <a:sym typeface="Playfair Display"/>
              </a:rPr>
              <a:t>Approach: dataset and methods</a:t>
            </a:r>
            <a:endParaRPr sz="2200">
              <a:latin typeface="Playfair Display"/>
              <a:ea typeface="Playfair Display"/>
              <a:cs typeface="Playfair Display"/>
              <a:sym typeface="Playfair Display"/>
            </a:endParaRPr>
          </a:p>
          <a:p>
            <a:pPr indent="-355600" lvl="0" marL="457200" rtl="0" algn="l">
              <a:lnSpc>
                <a:spcPct val="150000"/>
              </a:lnSpc>
              <a:spcBef>
                <a:spcPts val="0"/>
              </a:spcBef>
              <a:spcAft>
                <a:spcPts val="0"/>
              </a:spcAft>
              <a:buSzPts val="2000"/>
              <a:buFont typeface="Arial"/>
              <a:buChar char="●"/>
            </a:pPr>
            <a:r>
              <a:rPr lang="en-GB" sz="2200">
                <a:latin typeface="Playfair Display"/>
                <a:ea typeface="Playfair Display"/>
                <a:cs typeface="Playfair Display"/>
                <a:sym typeface="Playfair Display"/>
              </a:rPr>
              <a:t>Evaluation</a:t>
            </a:r>
            <a:endParaRPr sz="2200">
              <a:latin typeface="Playfair Display"/>
              <a:ea typeface="Playfair Display"/>
              <a:cs typeface="Playfair Display"/>
              <a:sym typeface="Playfair Display"/>
            </a:endParaRPr>
          </a:p>
          <a:p>
            <a:pPr indent="-355600" lvl="0" marL="457200" rtl="0" algn="l">
              <a:lnSpc>
                <a:spcPct val="150000"/>
              </a:lnSpc>
              <a:spcBef>
                <a:spcPts val="0"/>
              </a:spcBef>
              <a:spcAft>
                <a:spcPts val="0"/>
              </a:spcAft>
              <a:buSzPts val="2000"/>
              <a:buFont typeface="Arial"/>
              <a:buChar char="●"/>
            </a:pPr>
            <a:r>
              <a:rPr lang="en-GB" sz="2200">
                <a:latin typeface="Playfair Display"/>
                <a:ea typeface="Playfair Display"/>
                <a:cs typeface="Playfair Display"/>
                <a:sym typeface="Playfair Display"/>
              </a:rPr>
              <a:t>Conclusions and Future work</a:t>
            </a:r>
            <a:endParaRPr sz="2000">
              <a:latin typeface="Arial"/>
              <a:ea typeface="Arial"/>
              <a:cs typeface="Arial"/>
              <a:sym typeface="Arial"/>
            </a:endParaRPr>
          </a:p>
          <a:p>
            <a:pPr indent="0" lvl="0" marL="457200" rtl="0" algn="l">
              <a:spcBef>
                <a:spcPts val="0"/>
              </a:spcBef>
              <a:spcAft>
                <a:spcPts val="1600"/>
              </a:spcAft>
              <a:buNone/>
            </a:pPr>
            <a:r>
              <a:t/>
            </a:r>
            <a:endParaRPr>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a:t>
            </a:r>
            <a:r>
              <a:rPr lang="en-GB"/>
              <a:t>hat is hate?</a:t>
            </a:r>
            <a:endParaRPr/>
          </a:p>
        </p:txBody>
      </p:sp>
      <p:sp>
        <p:nvSpPr>
          <p:cNvPr id="74" name="Google Shape;74;p15"/>
          <p:cNvSpPr txBox="1"/>
          <p:nvPr>
            <p:ph idx="1" type="body"/>
          </p:nvPr>
        </p:nvSpPr>
        <p:spPr>
          <a:xfrm>
            <a:off x="258675" y="1808675"/>
            <a:ext cx="8520600" cy="2223000"/>
          </a:xfrm>
          <a:prstGeom prst="rect">
            <a:avLst/>
          </a:prstGeom>
        </p:spPr>
        <p:txBody>
          <a:bodyPr anchorCtr="0" anchor="t" bIns="91425" lIns="91425" spcFirstLastPara="1" rIns="91425" wrap="square" tIns="91425">
            <a:noAutofit/>
          </a:bodyPr>
          <a:lstStyle/>
          <a:p>
            <a:pPr indent="0" lvl="0" marL="457200" rtl="0" algn="l">
              <a:spcBef>
                <a:spcPts val="0"/>
              </a:spcBef>
              <a:spcAft>
                <a:spcPts val="1600"/>
              </a:spcAft>
              <a:buNone/>
            </a:pPr>
            <a:r>
              <a:rPr lang="en-GB" sz="2200">
                <a:solidFill>
                  <a:schemeClr val="dk1"/>
                </a:solidFill>
                <a:latin typeface="Playfair Display"/>
                <a:ea typeface="Playfair Display"/>
                <a:cs typeface="Playfair Display"/>
                <a:sym typeface="Playfair Display"/>
              </a:rPr>
              <a:t>“any kind of communication that attacks or uses discriminatory language to a person or a group on the basis of who they are</a:t>
            </a:r>
            <a:r>
              <a:rPr lang="en-GB" sz="2200">
                <a:solidFill>
                  <a:schemeClr val="dk1"/>
                </a:solidFill>
                <a:latin typeface="Playfair Display"/>
                <a:ea typeface="Playfair Display"/>
                <a:cs typeface="Playfair Display"/>
                <a:sym typeface="Playfair Display"/>
              </a:rPr>
              <a:t>, in other words</a:t>
            </a:r>
            <a:r>
              <a:rPr lang="en-GB" sz="2200">
                <a:solidFill>
                  <a:schemeClr val="dk1"/>
                </a:solidFill>
                <a:latin typeface="Playfair Display"/>
                <a:ea typeface="Playfair Display"/>
                <a:cs typeface="Playfair Display"/>
                <a:sym typeface="Playfair Display"/>
              </a:rPr>
              <a:t>, based on their religion, ethnicity, nationality, race, colour, descent, gender or other identity factor. ”</a:t>
            </a:r>
            <a:endParaRPr sz="2800">
              <a:solidFill>
                <a:schemeClr val="dk1"/>
              </a:solidFill>
              <a:latin typeface="Playfair Display"/>
              <a:ea typeface="Playfair Display"/>
              <a:cs typeface="Playfair Display"/>
              <a:sym typeface="Playfair Display"/>
            </a:endParaRPr>
          </a:p>
        </p:txBody>
      </p:sp>
      <p:sp>
        <p:nvSpPr>
          <p:cNvPr id="75" name="Google Shape;75;p15"/>
          <p:cNvSpPr txBox="1"/>
          <p:nvPr/>
        </p:nvSpPr>
        <p:spPr>
          <a:xfrm>
            <a:off x="2529375" y="4394950"/>
            <a:ext cx="6249900" cy="4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1"/>
                </a:solidFill>
                <a:latin typeface="Average"/>
                <a:ea typeface="Average"/>
                <a:cs typeface="Average"/>
                <a:sym typeface="Average"/>
              </a:rPr>
              <a:t>UNITED NATIONS STRATEGY AND PLAN OF ACTION ON HATE SPEECH</a:t>
            </a:r>
            <a:endParaRPr sz="1000">
              <a:solidFill>
                <a:schemeClr val="dk1"/>
              </a:solidFill>
              <a:latin typeface="Average"/>
              <a:ea typeface="Average"/>
              <a:cs typeface="Average"/>
              <a:sym typeface="Average"/>
            </a:endParaRPr>
          </a:p>
        </p:txBody>
      </p:sp>
      <p:pic>
        <p:nvPicPr>
          <p:cNvPr id="76" name="Google Shape;76;p15"/>
          <p:cNvPicPr preferRelativeResize="0"/>
          <p:nvPr/>
        </p:nvPicPr>
        <p:blipFill>
          <a:blip r:embed="rId3">
            <a:alphaModFix/>
          </a:blip>
          <a:stretch>
            <a:fillRect/>
          </a:stretch>
        </p:blipFill>
        <p:spPr>
          <a:xfrm>
            <a:off x="1640100" y="4276456"/>
            <a:ext cx="805917" cy="57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why is it important to detect ?</a:t>
            </a:r>
            <a:endParaRPr/>
          </a:p>
          <a:p>
            <a:pPr indent="0" lvl="0" marL="0" rtl="0" algn="l">
              <a:spcBef>
                <a:spcPts val="0"/>
              </a:spcBef>
              <a:spcAft>
                <a:spcPts val="0"/>
              </a:spcAft>
              <a:buNone/>
            </a:pPr>
            <a:r>
              <a:t/>
            </a:r>
            <a:endParaRPr/>
          </a:p>
        </p:txBody>
      </p:sp>
      <p:sp>
        <p:nvSpPr>
          <p:cNvPr id="82" name="Google Shape;82;p16"/>
          <p:cNvSpPr txBox="1"/>
          <p:nvPr>
            <p:ph idx="1" type="body"/>
          </p:nvPr>
        </p:nvSpPr>
        <p:spPr>
          <a:xfrm>
            <a:off x="237725" y="1456925"/>
            <a:ext cx="8240100" cy="1405200"/>
          </a:xfrm>
          <a:prstGeom prst="rect">
            <a:avLst/>
          </a:prstGeom>
        </p:spPr>
        <p:txBody>
          <a:bodyPr anchorCtr="0" anchor="t" bIns="91425" lIns="91425" spcFirstLastPara="1" rIns="91425" wrap="square" tIns="91425">
            <a:noAutofit/>
          </a:bodyPr>
          <a:lstStyle/>
          <a:p>
            <a:pPr indent="0" lvl="0" marL="0" rtl="0" algn="l">
              <a:lnSpc>
                <a:spcPct val="121000"/>
              </a:lnSpc>
              <a:spcBef>
                <a:spcPts val="1500"/>
              </a:spcBef>
              <a:spcAft>
                <a:spcPts val="800"/>
              </a:spcAft>
              <a:buNone/>
            </a:pPr>
            <a:r>
              <a:rPr b="1" lang="en-GB" sz="2200">
                <a:solidFill>
                  <a:srgbClr val="111111"/>
                </a:solidFill>
                <a:highlight>
                  <a:srgbClr val="FFFFFF"/>
                </a:highlight>
                <a:latin typeface="Arial"/>
                <a:ea typeface="Arial"/>
                <a:cs typeface="Arial"/>
                <a:sym typeface="Arial"/>
              </a:rPr>
              <a:t>Facebook engineers quit in protest, accusing the company of 'profiting off hate'</a:t>
            </a:r>
            <a:endParaRPr b="1" sz="2200">
              <a:solidFill>
                <a:srgbClr val="111111"/>
              </a:solidFill>
              <a:highlight>
                <a:srgbClr val="FFFFFF"/>
              </a:highlight>
              <a:latin typeface="Arial"/>
              <a:ea typeface="Arial"/>
              <a:cs typeface="Arial"/>
              <a:sym typeface="Arial"/>
            </a:endParaRPr>
          </a:p>
        </p:txBody>
      </p:sp>
      <p:pic>
        <p:nvPicPr>
          <p:cNvPr id="83" name="Google Shape;83;p16"/>
          <p:cNvPicPr preferRelativeResize="0"/>
          <p:nvPr/>
        </p:nvPicPr>
        <p:blipFill>
          <a:blip r:embed="rId3">
            <a:alphaModFix/>
          </a:blip>
          <a:stretch>
            <a:fillRect/>
          </a:stretch>
        </p:blipFill>
        <p:spPr>
          <a:xfrm>
            <a:off x="527225" y="2743700"/>
            <a:ext cx="3891900" cy="1945950"/>
          </a:xfrm>
          <a:prstGeom prst="rect">
            <a:avLst/>
          </a:prstGeom>
          <a:noFill/>
          <a:ln>
            <a:noFill/>
          </a:ln>
        </p:spPr>
      </p:pic>
      <p:sp>
        <p:nvSpPr>
          <p:cNvPr id="84" name="Google Shape;84;p16"/>
          <p:cNvSpPr txBox="1"/>
          <p:nvPr/>
        </p:nvSpPr>
        <p:spPr>
          <a:xfrm>
            <a:off x="5120400" y="3096750"/>
            <a:ext cx="3071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“When the looting starts, the shooting starts” Donald J. Trump</a:t>
            </a:r>
            <a:endParaRPr>
              <a:solidFill>
                <a:schemeClr val="dk1"/>
              </a:solidFill>
              <a:latin typeface="Average"/>
              <a:ea typeface="Average"/>
              <a:cs typeface="Average"/>
              <a:sym typeface="Average"/>
            </a:endParaRPr>
          </a:p>
          <a:p>
            <a:pPr indent="0" lvl="0" marL="0" rtl="0" algn="l">
              <a:spcBef>
                <a:spcPts val="0"/>
              </a:spcBef>
              <a:spcAft>
                <a:spcPts val="0"/>
              </a:spcAft>
              <a:buNone/>
            </a:pPr>
            <a:r>
              <a:t/>
            </a:r>
            <a:endParaRPr>
              <a:solidFill>
                <a:schemeClr val="dk1"/>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why is it important to detect ?</a:t>
            </a:r>
            <a:endParaRPr/>
          </a:p>
          <a:p>
            <a:pPr indent="0" lvl="0" marL="0" rtl="0" algn="l">
              <a:spcBef>
                <a:spcPts val="0"/>
              </a:spcBef>
              <a:spcAft>
                <a:spcPts val="0"/>
              </a:spcAft>
              <a:buNone/>
            </a:pPr>
            <a:r>
              <a:t/>
            </a:r>
            <a:endParaRPr/>
          </a:p>
        </p:txBody>
      </p:sp>
      <p:sp>
        <p:nvSpPr>
          <p:cNvPr id="90" name="Google Shape;90;p17"/>
          <p:cNvSpPr txBox="1"/>
          <p:nvPr>
            <p:ph idx="1" type="body"/>
          </p:nvPr>
        </p:nvSpPr>
        <p:spPr>
          <a:xfrm>
            <a:off x="339950" y="1817025"/>
            <a:ext cx="3301200" cy="19257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Remove </a:t>
            </a:r>
            <a:r>
              <a:rPr lang="en-GB"/>
              <a:t>abusive</a:t>
            </a:r>
            <a:r>
              <a:rPr lang="en-GB"/>
              <a:t> content for a good cause.</a:t>
            </a:r>
            <a:endParaRPr/>
          </a:p>
          <a:p>
            <a:pPr indent="-342900" lvl="0" marL="457200" rtl="0" algn="l">
              <a:lnSpc>
                <a:spcPct val="200000"/>
              </a:lnSpc>
              <a:spcBef>
                <a:spcPts val="0"/>
              </a:spcBef>
              <a:spcAft>
                <a:spcPts val="0"/>
              </a:spcAft>
              <a:buSzPts val="1800"/>
              <a:buChar char="●"/>
            </a:pPr>
            <a:r>
              <a:rPr lang="en-GB"/>
              <a:t>Business reputation</a:t>
            </a:r>
            <a:endParaRPr/>
          </a:p>
        </p:txBody>
      </p:sp>
      <p:pic>
        <p:nvPicPr>
          <p:cNvPr id="91" name="Google Shape;91;p17"/>
          <p:cNvPicPr preferRelativeResize="0"/>
          <p:nvPr/>
        </p:nvPicPr>
        <p:blipFill>
          <a:blip r:embed="rId3">
            <a:alphaModFix/>
          </a:blip>
          <a:stretch>
            <a:fillRect/>
          </a:stretch>
        </p:blipFill>
        <p:spPr>
          <a:xfrm>
            <a:off x="3909450" y="1934925"/>
            <a:ext cx="4922848" cy="1689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Objectives</a:t>
            </a:r>
            <a:endParaRPr/>
          </a:p>
        </p:txBody>
      </p:sp>
      <p:sp>
        <p:nvSpPr>
          <p:cNvPr id="97" name="Google Shape;97;p18"/>
          <p:cNvSpPr txBox="1"/>
          <p:nvPr>
            <p:ph idx="1" type="body"/>
          </p:nvPr>
        </p:nvSpPr>
        <p:spPr>
          <a:xfrm>
            <a:off x="311700" y="1556100"/>
            <a:ext cx="20442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1900"/>
              <a:t>Acquire</a:t>
            </a:r>
            <a:endParaRPr b="1" sz="1900"/>
          </a:p>
          <a:p>
            <a:pPr indent="0" lvl="0" marL="0" rtl="0" algn="l">
              <a:spcBef>
                <a:spcPts val="1600"/>
              </a:spcBef>
              <a:spcAft>
                <a:spcPts val="0"/>
              </a:spcAft>
              <a:buNone/>
            </a:pPr>
            <a:r>
              <a:rPr lang="en-GB" sz="1600"/>
              <a:t>the basic knowledge in the field of NLP and deep learning</a:t>
            </a:r>
            <a:endParaRPr sz="1600"/>
          </a:p>
          <a:p>
            <a:pPr indent="0" lvl="0" marL="0" rtl="0" algn="l">
              <a:spcBef>
                <a:spcPts val="1600"/>
              </a:spcBef>
              <a:spcAft>
                <a:spcPts val="0"/>
              </a:spcAft>
              <a:buNone/>
            </a:pPr>
            <a:r>
              <a:t/>
            </a:r>
            <a:endParaRPr sz="1600"/>
          </a:p>
          <a:p>
            <a:pPr indent="0" lvl="0" marL="0" rtl="0" algn="l">
              <a:spcBef>
                <a:spcPts val="1600"/>
              </a:spcBef>
              <a:spcAft>
                <a:spcPts val="1600"/>
              </a:spcAft>
              <a:buNone/>
            </a:pPr>
            <a:r>
              <a:t/>
            </a:r>
            <a:endParaRPr sz="1600"/>
          </a:p>
        </p:txBody>
      </p:sp>
      <p:sp>
        <p:nvSpPr>
          <p:cNvPr id="98" name="Google Shape;98;p18"/>
          <p:cNvSpPr txBox="1"/>
          <p:nvPr/>
        </p:nvSpPr>
        <p:spPr>
          <a:xfrm>
            <a:off x="3026825" y="1512225"/>
            <a:ext cx="2211600" cy="3000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None/>
            </a:pPr>
            <a:r>
              <a:t/>
            </a:r>
            <a:endParaRPr sz="1900">
              <a:solidFill>
                <a:schemeClr val="accent3"/>
              </a:solidFill>
              <a:latin typeface="Average"/>
              <a:ea typeface="Average"/>
              <a:cs typeface="Average"/>
              <a:sym typeface="Average"/>
            </a:endParaRPr>
          </a:p>
        </p:txBody>
      </p:sp>
      <p:sp>
        <p:nvSpPr>
          <p:cNvPr id="99" name="Google Shape;99;p18"/>
          <p:cNvSpPr txBox="1"/>
          <p:nvPr>
            <p:ph idx="1" type="body"/>
          </p:nvPr>
        </p:nvSpPr>
        <p:spPr>
          <a:xfrm>
            <a:off x="2527800" y="1512225"/>
            <a:ext cx="2044200" cy="34164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900"/>
              <a:t>Analyse</a:t>
            </a:r>
            <a:endParaRPr sz="1900"/>
          </a:p>
          <a:p>
            <a:pPr indent="0" lvl="0" marL="0" marR="0" rtl="0" algn="l">
              <a:lnSpc>
                <a:spcPct val="115000"/>
              </a:lnSpc>
              <a:spcBef>
                <a:spcPts val="1600"/>
              </a:spcBef>
              <a:spcAft>
                <a:spcPts val="1600"/>
              </a:spcAft>
              <a:buNone/>
            </a:pPr>
            <a:r>
              <a:rPr lang="en-GB" sz="1600"/>
              <a:t>the progression of methods and techniques till reaching the state of art performance in hate detection.</a:t>
            </a:r>
            <a:endParaRPr sz="1500"/>
          </a:p>
        </p:txBody>
      </p:sp>
      <p:sp>
        <p:nvSpPr>
          <p:cNvPr id="100" name="Google Shape;100;p18"/>
          <p:cNvSpPr txBox="1"/>
          <p:nvPr>
            <p:ph idx="1" type="body"/>
          </p:nvPr>
        </p:nvSpPr>
        <p:spPr>
          <a:xfrm>
            <a:off x="6998450" y="1556100"/>
            <a:ext cx="2044200" cy="34164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900"/>
              <a:t>Assess</a:t>
            </a:r>
            <a:endParaRPr sz="1900"/>
          </a:p>
          <a:p>
            <a:pPr indent="0" lvl="0" marL="0" marR="0" rtl="0" algn="l">
              <a:lnSpc>
                <a:spcPct val="115000"/>
              </a:lnSpc>
              <a:spcBef>
                <a:spcPts val="1600"/>
              </a:spcBef>
              <a:spcAft>
                <a:spcPts val="1600"/>
              </a:spcAft>
              <a:buNone/>
            </a:pPr>
            <a:r>
              <a:rPr lang="en-GB" sz="1600"/>
              <a:t>The performance of models through error analysis. </a:t>
            </a:r>
            <a:endParaRPr sz="1600"/>
          </a:p>
        </p:txBody>
      </p:sp>
      <p:sp>
        <p:nvSpPr>
          <p:cNvPr id="101" name="Google Shape;101;p18"/>
          <p:cNvSpPr txBox="1"/>
          <p:nvPr>
            <p:ph idx="1" type="body"/>
          </p:nvPr>
        </p:nvSpPr>
        <p:spPr>
          <a:xfrm>
            <a:off x="4825025" y="1512225"/>
            <a:ext cx="2044200" cy="33741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1900"/>
              <a:t>Architect</a:t>
            </a:r>
            <a:endParaRPr sz="1900"/>
          </a:p>
          <a:p>
            <a:pPr indent="0" lvl="0" marL="0" marR="0" rtl="0" algn="l">
              <a:lnSpc>
                <a:spcPct val="115000"/>
              </a:lnSpc>
              <a:spcBef>
                <a:spcPts val="1600"/>
              </a:spcBef>
              <a:spcAft>
                <a:spcPts val="1600"/>
              </a:spcAft>
              <a:buNone/>
            </a:pPr>
            <a:r>
              <a:rPr lang="en-GB" sz="1600"/>
              <a:t>two most advanced deep learning models, BERT and Bi-LSTM, for hate detection using Twitter dataset.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2535575" y="1088775"/>
            <a:ext cx="4301100" cy="3466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sz="2200"/>
              <a:t> 			</a:t>
            </a:r>
            <a:r>
              <a:rPr lang="en-GB" sz="2200"/>
              <a:t>32k tweets</a:t>
            </a:r>
            <a:endParaRPr sz="2200"/>
          </a:p>
        </p:txBody>
      </p:sp>
      <p:pic>
        <p:nvPicPr>
          <p:cNvPr id="107" name="Google Shape;107;p19"/>
          <p:cNvPicPr preferRelativeResize="0"/>
          <p:nvPr/>
        </p:nvPicPr>
        <p:blipFill>
          <a:blip r:embed="rId3">
            <a:alphaModFix/>
          </a:blip>
          <a:stretch>
            <a:fillRect/>
          </a:stretch>
        </p:blipFill>
        <p:spPr>
          <a:xfrm>
            <a:off x="417775" y="1566750"/>
            <a:ext cx="1793850" cy="1793850"/>
          </a:xfrm>
          <a:prstGeom prst="rect">
            <a:avLst/>
          </a:prstGeom>
          <a:noFill/>
          <a:ln>
            <a:noFill/>
          </a:ln>
        </p:spPr>
      </p:pic>
      <p:cxnSp>
        <p:nvCxnSpPr>
          <p:cNvPr id="108" name="Google Shape;108;p19"/>
          <p:cNvCxnSpPr/>
          <p:nvPr/>
        </p:nvCxnSpPr>
        <p:spPr>
          <a:xfrm flipH="1">
            <a:off x="3717157" y="1828200"/>
            <a:ext cx="994500" cy="814800"/>
          </a:xfrm>
          <a:prstGeom prst="straightConnector1">
            <a:avLst/>
          </a:prstGeom>
          <a:noFill/>
          <a:ln cap="flat" cmpd="sng" w="9525">
            <a:solidFill>
              <a:schemeClr val="dk2"/>
            </a:solidFill>
            <a:prstDash val="solid"/>
            <a:round/>
            <a:headEnd len="med" w="med" type="none"/>
            <a:tailEnd len="med" w="med" type="none"/>
          </a:ln>
        </p:spPr>
      </p:cxnSp>
      <p:cxnSp>
        <p:nvCxnSpPr>
          <p:cNvPr id="109" name="Google Shape;109;p19"/>
          <p:cNvCxnSpPr/>
          <p:nvPr/>
        </p:nvCxnSpPr>
        <p:spPr>
          <a:xfrm>
            <a:off x="4711657" y="1843365"/>
            <a:ext cx="1067700" cy="799500"/>
          </a:xfrm>
          <a:prstGeom prst="straightConnector1">
            <a:avLst/>
          </a:prstGeom>
          <a:noFill/>
          <a:ln cap="flat" cmpd="sng" w="9525">
            <a:solidFill>
              <a:schemeClr val="dk2"/>
            </a:solidFill>
            <a:prstDash val="solid"/>
            <a:round/>
            <a:headEnd len="med" w="med" type="none"/>
            <a:tailEnd len="med" w="med" type="none"/>
          </a:ln>
        </p:spPr>
      </p:cxnSp>
      <p:sp>
        <p:nvSpPr>
          <p:cNvPr id="110" name="Google Shape;110;p19"/>
          <p:cNvSpPr/>
          <p:nvPr/>
        </p:nvSpPr>
        <p:spPr>
          <a:xfrm>
            <a:off x="2894800" y="3103796"/>
            <a:ext cx="1396500" cy="13524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11" name="Google Shape;111;p19"/>
          <p:cNvSpPr/>
          <p:nvPr/>
        </p:nvSpPr>
        <p:spPr>
          <a:xfrm>
            <a:off x="5592701" y="3132496"/>
            <a:ext cx="482400" cy="5715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nvSpPr>
        <p:spPr>
          <a:xfrm>
            <a:off x="3282302" y="3598939"/>
            <a:ext cx="687300" cy="4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Lobster"/>
                <a:ea typeface="Lobster"/>
                <a:cs typeface="Lobster"/>
                <a:sym typeface="Lobster"/>
              </a:rPr>
              <a:t>29,720</a:t>
            </a:r>
            <a:endParaRPr>
              <a:latin typeface="Lobster"/>
              <a:ea typeface="Lobster"/>
              <a:cs typeface="Lobster"/>
              <a:sym typeface="Lobster"/>
            </a:endParaRPr>
          </a:p>
        </p:txBody>
      </p:sp>
      <p:sp>
        <p:nvSpPr>
          <p:cNvPr id="113" name="Google Shape;113;p19"/>
          <p:cNvSpPr txBox="1"/>
          <p:nvPr/>
        </p:nvSpPr>
        <p:spPr>
          <a:xfrm>
            <a:off x="5592701" y="3248242"/>
            <a:ext cx="5484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Lobster"/>
                <a:ea typeface="Lobster"/>
                <a:cs typeface="Lobster"/>
                <a:sym typeface="Lobster"/>
              </a:rPr>
              <a:t>2,242</a:t>
            </a:r>
            <a:endParaRPr sz="1000">
              <a:latin typeface="Lobster"/>
              <a:ea typeface="Lobster"/>
              <a:cs typeface="Lobster"/>
              <a:sym typeface="Lobster"/>
            </a:endParaRPr>
          </a:p>
        </p:txBody>
      </p:sp>
      <p:sp>
        <p:nvSpPr>
          <p:cNvPr id="114" name="Google Shape;114;p19"/>
          <p:cNvSpPr txBox="1"/>
          <p:nvPr/>
        </p:nvSpPr>
        <p:spPr>
          <a:xfrm>
            <a:off x="5529025" y="2686699"/>
            <a:ext cx="9069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Hate</a:t>
            </a:r>
            <a:endParaRPr>
              <a:solidFill>
                <a:schemeClr val="dk1"/>
              </a:solidFill>
              <a:latin typeface="Average"/>
              <a:ea typeface="Average"/>
              <a:cs typeface="Average"/>
              <a:sym typeface="Average"/>
            </a:endParaRPr>
          </a:p>
        </p:txBody>
      </p:sp>
      <p:sp>
        <p:nvSpPr>
          <p:cNvPr id="115" name="Google Shape;115;p19"/>
          <p:cNvSpPr txBox="1"/>
          <p:nvPr/>
        </p:nvSpPr>
        <p:spPr>
          <a:xfrm>
            <a:off x="3209089" y="2718607"/>
            <a:ext cx="8337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Neutral</a:t>
            </a:r>
            <a:endParaRPr>
              <a:solidFill>
                <a:schemeClr val="dk1"/>
              </a:solidFill>
              <a:latin typeface="Average"/>
              <a:ea typeface="Average"/>
              <a:cs typeface="Average"/>
              <a:sym typeface="Average"/>
            </a:endParaRPr>
          </a:p>
        </p:txBody>
      </p:sp>
      <p:sp>
        <p:nvSpPr>
          <p:cNvPr id="116" name="Google Shape;116;p19"/>
          <p:cNvSpPr txBox="1"/>
          <p:nvPr/>
        </p:nvSpPr>
        <p:spPr>
          <a:xfrm>
            <a:off x="2894800" y="4588475"/>
            <a:ext cx="43878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chemeClr val="dk1"/>
                </a:solidFill>
                <a:latin typeface="Average"/>
                <a:ea typeface="Average"/>
                <a:cs typeface="Average"/>
                <a:sym typeface="Average"/>
              </a:rPr>
              <a:t>Davidson et al.: Automated Hate Speech Detection and the Problem of Offensive Language</a:t>
            </a:r>
            <a:endParaRPr sz="400">
              <a:solidFill>
                <a:schemeClr val="dk1"/>
              </a:solidFill>
              <a:latin typeface="Average"/>
              <a:ea typeface="Average"/>
              <a:cs typeface="Average"/>
              <a:sym typeface="Average"/>
            </a:endParaRPr>
          </a:p>
        </p:txBody>
      </p:sp>
      <p:cxnSp>
        <p:nvCxnSpPr>
          <p:cNvPr id="117" name="Google Shape;117;p19"/>
          <p:cNvCxnSpPr/>
          <p:nvPr/>
        </p:nvCxnSpPr>
        <p:spPr>
          <a:xfrm flipH="1" rot="10800000">
            <a:off x="5439550" y="795450"/>
            <a:ext cx="687900" cy="558300"/>
          </a:xfrm>
          <a:prstGeom prst="straightConnector1">
            <a:avLst/>
          </a:prstGeom>
          <a:noFill/>
          <a:ln cap="flat" cmpd="sng" w="9525">
            <a:solidFill>
              <a:schemeClr val="dk2"/>
            </a:solidFill>
            <a:prstDash val="solid"/>
            <a:round/>
            <a:headEnd len="med" w="med" type="none"/>
            <a:tailEnd len="med" w="med" type="none"/>
          </a:ln>
        </p:spPr>
      </p:cxnSp>
      <p:cxnSp>
        <p:nvCxnSpPr>
          <p:cNvPr id="118" name="Google Shape;118;p19"/>
          <p:cNvCxnSpPr/>
          <p:nvPr/>
        </p:nvCxnSpPr>
        <p:spPr>
          <a:xfrm flipH="1" rot="10800000">
            <a:off x="5439550" y="1361025"/>
            <a:ext cx="914700" cy="6600"/>
          </a:xfrm>
          <a:prstGeom prst="straightConnector1">
            <a:avLst/>
          </a:prstGeom>
          <a:noFill/>
          <a:ln cap="flat" cmpd="sng" w="9525">
            <a:solidFill>
              <a:schemeClr val="dk2"/>
            </a:solidFill>
            <a:prstDash val="solid"/>
            <a:round/>
            <a:headEnd len="med" w="med" type="none"/>
            <a:tailEnd len="med" w="med" type="none"/>
          </a:ln>
        </p:spPr>
      </p:cxnSp>
      <p:cxnSp>
        <p:nvCxnSpPr>
          <p:cNvPr id="119" name="Google Shape;119;p19"/>
          <p:cNvCxnSpPr/>
          <p:nvPr/>
        </p:nvCxnSpPr>
        <p:spPr>
          <a:xfrm>
            <a:off x="5466100" y="1374900"/>
            <a:ext cx="861600" cy="516900"/>
          </a:xfrm>
          <a:prstGeom prst="straightConnector1">
            <a:avLst/>
          </a:prstGeom>
          <a:noFill/>
          <a:ln cap="flat" cmpd="sng" w="9525">
            <a:solidFill>
              <a:schemeClr val="dk2"/>
            </a:solidFill>
            <a:prstDash val="solid"/>
            <a:round/>
            <a:headEnd len="med" w="med" type="none"/>
            <a:tailEnd len="med" w="med" type="none"/>
          </a:ln>
        </p:spPr>
      </p:cxnSp>
      <p:sp>
        <p:nvSpPr>
          <p:cNvPr id="120" name="Google Shape;120;p19"/>
          <p:cNvSpPr txBox="1"/>
          <p:nvPr/>
        </p:nvSpPr>
        <p:spPr>
          <a:xfrm>
            <a:off x="6407275" y="519200"/>
            <a:ext cx="10407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Train: 80%</a:t>
            </a:r>
            <a:endParaRPr>
              <a:solidFill>
                <a:schemeClr val="dk1"/>
              </a:solidFill>
              <a:latin typeface="Average"/>
              <a:ea typeface="Average"/>
              <a:cs typeface="Average"/>
              <a:sym typeface="Average"/>
            </a:endParaRPr>
          </a:p>
        </p:txBody>
      </p:sp>
      <p:sp>
        <p:nvSpPr>
          <p:cNvPr id="121" name="Google Shape;121;p19"/>
          <p:cNvSpPr txBox="1"/>
          <p:nvPr/>
        </p:nvSpPr>
        <p:spPr>
          <a:xfrm>
            <a:off x="6493450" y="1241675"/>
            <a:ext cx="14802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Validation: 10%</a:t>
            </a:r>
            <a:endParaRPr>
              <a:solidFill>
                <a:schemeClr val="dk1"/>
              </a:solidFill>
              <a:latin typeface="Average"/>
              <a:ea typeface="Average"/>
              <a:cs typeface="Average"/>
              <a:sym typeface="Average"/>
            </a:endParaRPr>
          </a:p>
        </p:txBody>
      </p:sp>
      <p:sp>
        <p:nvSpPr>
          <p:cNvPr id="122" name="Google Shape;122;p19"/>
          <p:cNvSpPr txBox="1"/>
          <p:nvPr/>
        </p:nvSpPr>
        <p:spPr>
          <a:xfrm>
            <a:off x="6581825" y="1911125"/>
            <a:ext cx="10677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Test: 10%</a:t>
            </a:r>
            <a:endParaRPr>
              <a:solidFill>
                <a:schemeClr val="dk1"/>
              </a:solidFill>
              <a:latin typeface="Average"/>
              <a:ea typeface="Average"/>
              <a:cs typeface="Average"/>
              <a:sym typeface="Average"/>
            </a:endParaRPr>
          </a:p>
        </p:txBody>
      </p:sp>
      <p:sp>
        <p:nvSpPr>
          <p:cNvPr id="123" name="Google Shape;123;p19"/>
          <p:cNvSpPr txBox="1"/>
          <p:nvPr/>
        </p:nvSpPr>
        <p:spPr>
          <a:xfrm>
            <a:off x="145325" y="458475"/>
            <a:ext cx="4524900" cy="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000">
                <a:solidFill>
                  <a:schemeClr val="dk1"/>
                </a:solidFill>
                <a:latin typeface="Oswald"/>
                <a:ea typeface="Oswald"/>
                <a:cs typeface="Oswald"/>
                <a:sym typeface="Oswald"/>
              </a:rPr>
              <a:t>Approach: </a:t>
            </a:r>
            <a:r>
              <a:rPr lang="en-GB" sz="2800">
                <a:solidFill>
                  <a:schemeClr val="dk1"/>
                </a:solidFill>
                <a:latin typeface="Oswald"/>
                <a:ea typeface="Oswald"/>
                <a:cs typeface="Oswald"/>
                <a:sym typeface="Oswald"/>
              </a:rPr>
              <a:t>Twitter dataset</a:t>
            </a:r>
            <a:endParaRPr sz="2800">
              <a:solidFill>
                <a:schemeClr val="dk1"/>
              </a:solidFill>
              <a:latin typeface="Oswald"/>
              <a:ea typeface="Oswald"/>
              <a:cs typeface="Oswald"/>
              <a:sym typeface="Oswald"/>
            </a:endParaRPr>
          </a:p>
          <a:p>
            <a:pPr indent="0" lvl="0" marL="0" rtl="0" algn="ctr">
              <a:spcBef>
                <a:spcPts val="0"/>
              </a:spcBef>
              <a:spcAft>
                <a:spcPts val="0"/>
              </a:spcAft>
              <a:buNone/>
            </a:pPr>
            <a:r>
              <a:t/>
            </a:r>
            <a:endParaRPr sz="3000">
              <a:solidFill>
                <a:schemeClr val="dk1"/>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First</a:t>
            </a:r>
            <a:r>
              <a:rPr lang="en-GB"/>
              <a:t> </a:t>
            </a:r>
            <a:r>
              <a:rPr lang="en-GB"/>
              <a:t>Approach</a:t>
            </a:r>
            <a:endParaRPr/>
          </a:p>
        </p:txBody>
      </p:sp>
      <p:sp>
        <p:nvSpPr>
          <p:cNvPr id="129" name="Google Shape;129;p20"/>
          <p:cNvSpPr txBox="1"/>
          <p:nvPr>
            <p:ph idx="1" type="body"/>
          </p:nvPr>
        </p:nvSpPr>
        <p:spPr>
          <a:xfrm>
            <a:off x="2233700" y="1152475"/>
            <a:ext cx="45909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2900"/>
          </a:p>
          <a:p>
            <a:pPr indent="0" lvl="0" marL="0" rtl="0" algn="ctr">
              <a:spcBef>
                <a:spcPts val="1600"/>
              </a:spcBef>
              <a:spcAft>
                <a:spcPts val="1600"/>
              </a:spcAft>
              <a:buNone/>
            </a:pPr>
            <a:r>
              <a:rPr lang="en-GB" sz="3400"/>
              <a:t>Bi-LSTM</a:t>
            </a:r>
            <a:endParaRPr sz="3400"/>
          </a:p>
        </p:txBody>
      </p:sp>
      <p:pic>
        <p:nvPicPr>
          <p:cNvPr id="130" name="Google Shape;130;p20"/>
          <p:cNvPicPr preferRelativeResize="0"/>
          <p:nvPr/>
        </p:nvPicPr>
        <p:blipFill rotWithShape="1">
          <a:blip r:embed="rId3">
            <a:alphaModFix/>
          </a:blip>
          <a:srcRect b="-4641" l="0" r="0" t="15728"/>
          <a:stretch/>
        </p:blipFill>
        <p:spPr>
          <a:xfrm>
            <a:off x="1368550" y="3163875"/>
            <a:ext cx="6692399" cy="762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t>Bi-LSTM</a:t>
            </a:r>
            <a:endParaRPr sz="3400">
              <a:solidFill>
                <a:schemeClr val="accent3"/>
              </a:solidFill>
              <a:latin typeface="Average"/>
              <a:ea typeface="Average"/>
              <a:cs typeface="Average"/>
              <a:sym typeface="Average"/>
            </a:endParaRPr>
          </a:p>
          <a:p>
            <a:pPr indent="0" lvl="0" marL="0" rtl="0" algn="l">
              <a:spcBef>
                <a:spcPts val="0"/>
              </a:spcBef>
              <a:spcAft>
                <a:spcPts val="0"/>
              </a:spcAft>
              <a:buNone/>
            </a:pPr>
            <a:r>
              <a:t/>
            </a:r>
            <a:endParaRPr/>
          </a:p>
        </p:txBody>
      </p:sp>
      <p:sp>
        <p:nvSpPr>
          <p:cNvPr id="136" name="Google Shape;136;p21"/>
          <p:cNvSpPr txBox="1"/>
          <p:nvPr>
            <p:ph idx="1" type="body"/>
          </p:nvPr>
        </p:nvSpPr>
        <p:spPr>
          <a:xfrm>
            <a:off x="236350" y="1089175"/>
            <a:ext cx="8520600" cy="832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900"/>
              <a:t>Word Embedding by GloVe for vector space representations </a:t>
            </a:r>
            <a:endParaRPr sz="1900"/>
          </a:p>
          <a:p>
            <a:pPr indent="0" lvl="0" marL="0" rtl="0" algn="l">
              <a:lnSpc>
                <a:spcPct val="100000"/>
              </a:lnSpc>
              <a:spcBef>
                <a:spcPts val="1600"/>
              </a:spcBef>
              <a:spcAft>
                <a:spcPts val="1600"/>
              </a:spcAft>
              <a:buNone/>
            </a:pPr>
            <a:r>
              <a:rPr lang="en-GB" sz="1200">
                <a:solidFill>
                  <a:schemeClr val="dk2"/>
                </a:solidFill>
                <a:latin typeface="Times New Roman"/>
                <a:ea typeface="Times New Roman"/>
                <a:cs typeface="Times New Roman"/>
                <a:sym typeface="Times New Roman"/>
              </a:rPr>
              <a:t>glove.6B.100d  6 B tokens of 400 k vocab forming a 100 dimension form Wikipedia 2014</a:t>
            </a:r>
            <a:r>
              <a:rPr lang="en-GB" sz="1200">
                <a:solidFill>
                  <a:schemeClr val="dk2"/>
                </a:solidFill>
                <a:latin typeface="Times New Roman"/>
                <a:ea typeface="Times New Roman"/>
                <a:cs typeface="Times New Roman"/>
                <a:sym typeface="Times New Roman"/>
              </a:rPr>
              <a:t> and Gigaword 5 corpora</a:t>
            </a:r>
            <a:endParaRPr sz="1900">
              <a:solidFill>
                <a:schemeClr val="dk2"/>
              </a:solidFill>
            </a:endParaRPr>
          </a:p>
        </p:txBody>
      </p:sp>
      <p:sp>
        <p:nvSpPr>
          <p:cNvPr id="137" name="Google Shape;137;p21"/>
          <p:cNvSpPr txBox="1"/>
          <p:nvPr/>
        </p:nvSpPr>
        <p:spPr>
          <a:xfrm>
            <a:off x="822850" y="4568325"/>
            <a:ext cx="7934100" cy="2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1"/>
                </a:solidFill>
              </a:rPr>
              <a:t>Pennington, J., Socher, R., &amp; Manning, C. D. (2014, October). Glove: Global vectors for word representation. In </a:t>
            </a:r>
            <a:r>
              <a:rPr i="1" lang="en-GB" sz="1000">
                <a:solidFill>
                  <a:schemeClr val="dk1"/>
                </a:solidFill>
              </a:rPr>
              <a:t>Proceedings of the 2014 conference on empirical methods in natural language processing (EMNLP)</a:t>
            </a:r>
            <a:r>
              <a:rPr lang="en-GB" sz="1000">
                <a:solidFill>
                  <a:schemeClr val="dk1"/>
                </a:solidFill>
              </a:rPr>
              <a:t> (pp. 1532-1543).</a:t>
            </a:r>
            <a:endParaRPr sz="1000">
              <a:solidFill>
                <a:schemeClr val="dk1"/>
              </a:solidFill>
            </a:endParaRPr>
          </a:p>
          <a:p>
            <a:pPr indent="0" lvl="0" marL="0" rtl="0" algn="l">
              <a:spcBef>
                <a:spcPts val="0"/>
              </a:spcBef>
              <a:spcAft>
                <a:spcPts val="0"/>
              </a:spcAft>
              <a:buNone/>
            </a:pPr>
            <a:r>
              <a:t/>
            </a:r>
            <a:endParaRPr>
              <a:latin typeface="Average"/>
              <a:ea typeface="Average"/>
              <a:cs typeface="Average"/>
              <a:sym typeface="Average"/>
            </a:endParaRPr>
          </a:p>
        </p:txBody>
      </p:sp>
      <p:pic>
        <p:nvPicPr>
          <p:cNvPr id="138" name="Google Shape;138;p21"/>
          <p:cNvPicPr preferRelativeResize="0"/>
          <p:nvPr/>
        </p:nvPicPr>
        <p:blipFill>
          <a:blip r:embed="rId3">
            <a:alphaModFix/>
          </a:blip>
          <a:stretch>
            <a:fillRect/>
          </a:stretch>
        </p:blipFill>
        <p:spPr>
          <a:xfrm>
            <a:off x="786800" y="2004825"/>
            <a:ext cx="3264150" cy="2529726"/>
          </a:xfrm>
          <a:prstGeom prst="rect">
            <a:avLst/>
          </a:prstGeom>
          <a:noFill/>
          <a:ln>
            <a:noFill/>
          </a:ln>
        </p:spPr>
      </p:pic>
      <p:pic>
        <p:nvPicPr>
          <p:cNvPr id="139" name="Google Shape;139;p21"/>
          <p:cNvPicPr preferRelativeResize="0"/>
          <p:nvPr/>
        </p:nvPicPr>
        <p:blipFill>
          <a:blip r:embed="rId4">
            <a:alphaModFix/>
          </a:blip>
          <a:stretch>
            <a:fillRect/>
          </a:stretch>
        </p:blipFill>
        <p:spPr>
          <a:xfrm>
            <a:off x="4673950" y="2004825"/>
            <a:ext cx="3264150" cy="25362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143" name="Shape 143"/>
        <p:cNvGrpSpPr/>
        <p:nvPr/>
      </p:nvGrpSpPr>
      <p:grpSpPr>
        <a:xfrm>
          <a:off x="0" y="0"/>
          <a:ext cx="0" cy="0"/>
          <a:chOff x="0" y="0"/>
          <a:chExt cx="0" cy="0"/>
        </a:xfrm>
      </p:grpSpPr>
      <p:sp>
        <p:nvSpPr>
          <p:cNvPr id="144" name="Google Shape;144;p22"/>
          <p:cNvSpPr txBox="1"/>
          <p:nvPr>
            <p:ph type="title"/>
          </p:nvPr>
        </p:nvSpPr>
        <p:spPr>
          <a:xfrm>
            <a:off x="550325"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3400"/>
              <a:t>Bi-LSTM</a:t>
            </a:r>
            <a:endParaRPr sz="3400"/>
          </a:p>
          <a:p>
            <a:pPr indent="0" lvl="0" marL="0" rtl="0" algn="l">
              <a:spcBef>
                <a:spcPts val="1600"/>
              </a:spcBef>
              <a:spcAft>
                <a:spcPts val="0"/>
              </a:spcAft>
              <a:buNone/>
            </a:pPr>
            <a:r>
              <a:t/>
            </a:r>
            <a:endParaRPr/>
          </a:p>
        </p:txBody>
      </p:sp>
      <p:pic>
        <p:nvPicPr>
          <p:cNvPr id="145" name="Google Shape;145;p22"/>
          <p:cNvPicPr preferRelativeResize="0"/>
          <p:nvPr/>
        </p:nvPicPr>
        <p:blipFill>
          <a:blip r:embed="rId3">
            <a:alphaModFix/>
          </a:blip>
          <a:stretch>
            <a:fillRect/>
          </a:stretch>
        </p:blipFill>
        <p:spPr>
          <a:xfrm>
            <a:off x="5547675" y="3626423"/>
            <a:ext cx="3464348" cy="1424275"/>
          </a:xfrm>
          <a:prstGeom prst="rect">
            <a:avLst/>
          </a:prstGeom>
          <a:noFill/>
          <a:ln>
            <a:noFill/>
          </a:ln>
        </p:spPr>
      </p:pic>
      <p:pic>
        <p:nvPicPr>
          <p:cNvPr id="146" name="Google Shape;146;p22"/>
          <p:cNvPicPr preferRelativeResize="0"/>
          <p:nvPr/>
        </p:nvPicPr>
        <p:blipFill>
          <a:blip r:embed="rId4">
            <a:alphaModFix/>
          </a:blip>
          <a:stretch>
            <a:fillRect/>
          </a:stretch>
        </p:blipFill>
        <p:spPr>
          <a:xfrm>
            <a:off x="713825" y="1157475"/>
            <a:ext cx="7473399" cy="2828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Second Approach</a:t>
            </a:r>
            <a:endParaRPr/>
          </a:p>
        </p:txBody>
      </p:sp>
      <p:sp>
        <p:nvSpPr>
          <p:cNvPr id="152" name="Google Shape;152;p23"/>
          <p:cNvSpPr txBox="1"/>
          <p:nvPr>
            <p:ph idx="1" type="body"/>
          </p:nvPr>
        </p:nvSpPr>
        <p:spPr>
          <a:xfrm>
            <a:off x="311700" y="1152475"/>
            <a:ext cx="8520600" cy="1343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GB" sz="2800"/>
              <a:t>BERT</a:t>
            </a:r>
            <a:endParaRPr sz="2800"/>
          </a:p>
        </p:txBody>
      </p:sp>
      <p:pic>
        <p:nvPicPr>
          <p:cNvPr id="153" name="Google Shape;153;p23"/>
          <p:cNvPicPr preferRelativeResize="0"/>
          <p:nvPr/>
        </p:nvPicPr>
        <p:blipFill>
          <a:blip r:embed="rId3">
            <a:alphaModFix/>
          </a:blip>
          <a:stretch>
            <a:fillRect/>
          </a:stretch>
        </p:blipFill>
        <p:spPr>
          <a:xfrm>
            <a:off x="3062175" y="2401925"/>
            <a:ext cx="3325225" cy="987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34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highlight>
                  <a:srgbClr val="0B5394"/>
                </a:highlight>
              </a:rPr>
              <a:t>BERT</a:t>
            </a:r>
            <a:endParaRPr>
              <a:highlight>
                <a:srgbClr val="0B5394"/>
              </a:highlight>
            </a:endParaRPr>
          </a:p>
        </p:txBody>
      </p:sp>
      <p:pic>
        <p:nvPicPr>
          <p:cNvPr id="159" name="Google Shape;159;p24"/>
          <p:cNvPicPr preferRelativeResize="0"/>
          <p:nvPr/>
        </p:nvPicPr>
        <p:blipFill>
          <a:blip r:embed="rId3">
            <a:alphaModFix/>
          </a:blip>
          <a:stretch>
            <a:fillRect/>
          </a:stretch>
        </p:blipFill>
        <p:spPr>
          <a:xfrm>
            <a:off x="2464100" y="1238200"/>
            <a:ext cx="4121450" cy="3445725"/>
          </a:xfrm>
          <a:prstGeom prst="rect">
            <a:avLst/>
          </a:prstGeom>
          <a:noFill/>
          <a:ln>
            <a:noFill/>
          </a:ln>
        </p:spPr>
      </p:pic>
      <p:sp>
        <p:nvSpPr>
          <p:cNvPr id="160" name="Google Shape;160;p24"/>
          <p:cNvSpPr txBox="1"/>
          <p:nvPr/>
        </p:nvSpPr>
        <p:spPr>
          <a:xfrm>
            <a:off x="337050" y="4725200"/>
            <a:ext cx="8469900" cy="198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2400"/>
              </a:spcAft>
              <a:buNone/>
            </a:pPr>
            <a:r>
              <a:rPr lang="en-GB" sz="750">
                <a:solidFill>
                  <a:srgbClr val="333333"/>
                </a:solidFill>
                <a:highlight>
                  <a:srgbClr val="FCFCFC"/>
                </a:highlight>
              </a:rPr>
              <a:t>Wu X., Lv S., Zang L., Han J., Hu S. (2019) Conditional BERT Contextual Augmentation. In: Rodrigues J. et al. (eds) Computational Science – ICCS 2019. ICCS 2019. Lecture Notes in Computer Science, vol 11539. Springer, Cham. https://doi.org/10.1007/978-3-030-22747-0_7</a:t>
            </a:r>
            <a:endParaRPr sz="100">
              <a:solidFill>
                <a:srgbClr val="1155CC"/>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Evaluation</a:t>
            </a:r>
            <a:endParaRPr/>
          </a:p>
        </p:txBody>
      </p:sp>
      <p:pic>
        <p:nvPicPr>
          <p:cNvPr id="166" name="Google Shape;166;p25"/>
          <p:cNvPicPr preferRelativeResize="0"/>
          <p:nvPr/>
        </p:nvPicPr>
        <p:blipFill>
          <a:blip r:embed="rId3">
            <a:alphaModFix/>
          </a:blip>
          <a:stretch>
            <a:fillRect/>
          </a:stretch>
        </p:blipFill>
        <p:spPr>
          <a:xfrm>
            <a:off x="152400" y="1170125"/>
            <a:ext cx="4113976" cy="3820974"/>
          </a:xfrm>
          <a:prstGeom prst="rect">
            <a:avLst/>
          </a:prstGeom>
          <a:noFill/>
          <a:ln>
            <a:noFill/>
          </a:ln>
        </p:spPr>
      </p:pic>
      <p:sp>
        <p:nvSpPr>
          <p:cNvPr id="167" name="Google Shape;167;p25"/>
          <p:cNvSpPr txBox="1"/>
          <p:nvPr/>
        </p:nvSpPr>
        <p:spPr>
          <a:xfrm>
            <a:off x="5711325" y="1327850"/>
            <a:ext cx="2167500" cy="62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300">
                <a:solidFill>
                  <a:schemeClr val="dk1"/>
                </a:solidFill>
                <a:latin typeface="Average"/>
                <a:ea typeface="Average"/>
                <a:cs typeface="Average"/>
                <a:sym typeface="Average"/>
              </a:rPr>
              <a:t>FI-Score</a:t>
            </a:r>
            <a:endParaRPr b="1" sz="2300">
              <a:solidFill>
                <a:schemeClr val="dk1"/>
              </a:solidFill>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p:txBody>
      </p:sp>
      <p:cxnSp>
        <p:nvCxnSpPr>
          <p:cNvPr id="168" name="Google Shape;168;p25"/>
          <p:cNvCxnSpPr/>
          <p:nvPr/>
        </p:nvCxnSpPr>
        <p:spPr>
          <a:xfrm>
            <a:off x="6783525" y="1957550"/>
            <a:ext cx="23100" cy="1650300"/>
          </a:xfrm>
          <a:prstGeom prst="straightConnector1">
            <a:avLst/>
          </a:prstGeom>
          <a:noFill/>
          <a:ln cap="flat" cmpd="sng" w="9525">
            <a:solidFill>
              <a:schemeClr val="dk2"/>
            </a:solidFill>
            <a:prstDash val="solid"/>
            <a:round/>
            <a:headEnd len="med" w="med" type="none"/>
            <a:tailEnd len="med" w="med" type="none"/>
          </a:ln>
        </p:spPr>
      </p:cxnSp>
      <p:sp>
        <p:nvSpPr>
          <p:cNvPr id="169" name="Google Shape;169;p25"/>
          <p:cNvSpPr txBox="1"/>
          <p:nvPr/>
        </p:nvSpPr>
        <p:spPr>
          <a:xfrm>
            <a:off x="5041875" y="2308825"/>
            <a:ext cx="1312500" cy="49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200">
                <a:solidFill>
                  <a:schemeClr val="accent5"/>
                </a:solidFill>
                <a:latin typeface="Average"/>
                <a:ea typeface="Average"/>
                <a:cs typeface="Average"/>
                <a:sym typeface="Average"/>
              </a:rPr>
              <a:t>0.7</a:t>
            </a:r>
            <a:endParaRPr b="1" sz="3200">
              <a:solidFill>
                <a:schemeClr val="accent5"/>
              </a:solidFill>
              <a:latin typeface="Average"/>
              <a:ea typeface="Average"/>
              <a:cs typeface="Average"/>
              <a:sym typeface="Average"/>
            </a:endParaRPr>
          </a:p>
        </p:txBody>
      </p:sp>
      <p:sp>
        <p:nvSpPr>
          <p:cNvPr id="170" name="Google Shape;170;p25"/>
          <p:cNvSpPr txBox="1"/>
          <p:nvPr/>
        </p:nvSpPr>
        <p:spPr>
          <a:xfrm>
            <a:off x="7050175" y="2326500"/>
            <a:ext cx="1312500" cy="49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200">
                <a:solidFill>
                  <a:schemeClr val="accent5"/>
                </a:solidFill>
                <a:latin typeface="Average"/>
                <a:ea typeface="Average"/>
                <a:cs typeface="Average"/>
                <a:sym typeface="Average"/>
              </a:rPr>
              <a:t>0.6</a:t>
            </a:r>
            <a:endParaRPr b="1" sz="3200">
              <a:solidFill>
                <a:schemeClr val="accent5"/>
              </a:solidFill>
              <a:latin typeface="Average"/>
              <a:ea typeface="Average"/>
              <a:cs typeface="Average"/>
              <a:sym typeface="Average"/>
            </a:endParaRPr>
          </a:p>
        </p:txBody>
      </p:sp>
      <p:sp>
        <p:nvSpPr>
          <p:cNvPr id="171" name="Google Shape;171;p25"/>
          <p:cNvSpPr txBox="1"/>
          <p:nvPr/>
        </p:nvSpPr>
        <p:spPr>
          <a:xfrm>
            <a:off x="5134650" y="3197000"/>
            <a:ext cx="12198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accent5"/>
                </a:solidFill>
                <a:latin typeface="Average"/>
                <a:ea typeface="Average"/>
                <a:cs typeface="Average"/>
                <a:sym typeface="Average"/>
              </a:rPr>
              <a:t>BERT</a:t>
            </a:r>
            <a:endParaRPr sz="2600">
              <a:solidFill>
                <a:schemeClr val="accent5"/>
              </a:solidFill>
              <a:latin typeface="Average"/>
              <a:ea typeface="Average"/>
              <a:cs typeface="Average"/>
              <a:sym typeface="Average"/>
            </a:endParaRPr>
          </a:p>
        </p:txBody>
      </p:sp>
      <p:sp>
        <p:nvSpPr>
          <p:cNvPr id="172" name="Google Shape;172;p25"/>
          <p:cNvSpPr txBox="1"/>
          <p:nvPr/>
        </p:nvSpPr>
        <p:spPr>
          <a:xfrm>
            <a:off x="7235700" y="3197000"/>
            <a:ext cx="13788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accent5"/>
                </a:solidFill>
                <a:latin typeface="Average"/>
                <a:ea typeface="Average"/>
                <a:cs typeface="Average"/>
                <a:sym typeface="Average"/>
              </a:rPr>
              <a:t>Bi-LSTM</a:t>
            </a:r>
            <a:endParaRPr sz="2200">
              <a:solidFill>
                <a:schemeClr val="accent5"/>
              </a:solidFill>
              <a:latin typeface="Average"/>
              <a:ea typeface="Average"/>
              <a:cs typeface="Average"/>
              <a:sym typeface="Average"/>
            </a:endParaRPr>
          </a:p>
        </p:txBody>
      </p:sp>
      <p:sp>
        <p:nvSpPr>
          <p:cNvPr id="173" name="Google Shape;173;p25"/>
          <p:cNvSpPr txBox="1"/>
          <p:nvPr/>
        </p:nvSpPr>
        <p:spPr>
          <a:xfrm>
            <a:off x="946675" y="3115275"/>
            <a:ext cx="7017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Average"/>
                <a:ea typeface="Average"/>
                <a:cs typeface="Average"/>
                <a:sym typeface="Average"/>
              </a:rPr>
              <a:t>93.6 %</a:t>
            </a:r>
            <a:endParaRPr>
              <a:latin typeface="Average"/>
              <a:ea typeface="Average"/>
              <a:cs typeface="Average"/>
              <a:sym typeface="Average"/>
            </a:endParaRPr>
          </a:p>
        </p:txBody>
      </p:sp>
      <p:sp>
        <p:nvSpPr>
          <p:cNvPr id="174" name="Google Shape;174;p25"/>
          <p:cNvSpPr txBox="1"/>
          <p:nvPr/>
        </p:nvSpPr>
        <p:spPr>
          <a:xfrm>
            <a:off x="3154850" y="3734000"/>
            <a:ext cx="7017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Average"/>
                <a:ea typeface="Average"/>
                <a:cs typeface="Average"/>
                <a:sym typeface="Average"/>
              </a:rPr>
              <a:t>88.7</a:t>
            </a:r>
            <a:r>
              <a:rPr lang="en-GB">
                <a:latin typeface="Average"/>
                <a:ea typeface="Average"/>
                <a:cs typeface="Average"/>
                <a:sym typeface="Average"/>
              </a:rPr>
              <a:t> %</a:t>
            </a:r>
            <a:endParaRPr>
              <a:latin typeface="Average"/>
              <a:ea typeface="Average"/>
              <a:cs typeface="Average"/>
              <a:sym typeface="Average"/>
            </a:endParaRPr>
          </a:p>
        </p:txBody>
      </p:sp>
      <p:sp>
        <p:nvSpPr>
          <p:cNvPr id="175" name="Google Shape;175;p25"/>
          <p:cNvSpPr txBox="1"/>
          <p:nvPr/>
        </p:nvSpPr>
        <p:spPr>
          <a:xfrm>
            <a:off x="2019300" y="2613500"/>
            <a:ext cx="7017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Average"/>
                <a:ea typeface="Average"/>
                <a:cs typeface="Average"/>
                <a:sym typeface="Average"/>
              </a:rPr>
              <a:t>97.4 %</a:t>
            </a:r>
            <a:endParaRPr>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sp>
        <p:nvSpPr>
          <p:cNvPr id="180" name="Google Shape;180;p26"/>
          <p:cNvSpPr txBox="1"/>
          <p:nvPr>
            <p:ph type="title"/>
          </p:nvPr>
        </p:nvSpPr>
        <p:spPr>
          <a:xfrm>
            <a:off x="248500" y="357575"/>
            <a:ext cx="85206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3D85C6"/>
                </a:solidFill>
              </a:rPr>
              <a:t>Error Analysis</a:t>
            </a:r>
            <a:endParaRPr>
              <a:solidFill>
                <a:srgbClr val="3D85C6"/>
              </a:solidFill>
            </a:endParaRPr>
          </a:p>
        </p:txBody>
      </p:sp>
      <p:pic>
        <p:nvPicPr>
          <p:cNvPr id="181" name="Google Shape;181;p26"/>
          <p:cNvPicPr preferRelativeResize="0"/>
          <p:nvPr/>
        </p:nvPicPr>
        <p:blipFill>
          <a:blip r:embed="rId3">
            <a:alphaModFix/>
          </a:blip>
          <a:stretch>
            <a:fillRect/>
          </a:stretch>
        </p:blipFill>
        <p:spPr>
          <a:xfrm>
            <a:off x="1676950" y="1721975"/>
            <a:ext cx="5992022" cy="2467350"/>
          </a:xfrm>
          <a:prstGeom prst="rect">
            <a:avLst/>
          </a:prstGeom>
          <a:noFill/>
          <a:ln>
            <a:noFill/>
          </a:ln>
        </p:spPr>
      </p:pic>
      <p:sp>
        <p:nvSpPr>
          <p:cNvPr id="182" name="Google Shape;182;p26"/>
          <p:cNvSpPr/>
          <p:nvPr/>
        </p:nvSpPr>
        <p:spPr>
          <a:xfrm>
            <a:off x="2016750" y="2501325"/>
            <a:ext cx="5110500" cy="881700"/>
          </a:xfrm>
          <a:prstGeom prst="rect">
            <a:avLst/>
          </a:prstGeom>
          <a:solidFill>
            <a:srgbClr val="F3F3F3"/>
          </a:soli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6"/>
          <p:cNvSpPr txBox="1"/>
          <p:nvPr>
            <p:ph idx="1" type="body"/>
          </p:nvPr>
        </p:nvSpPr>
        <p:spPr>
          <a:xfrm>
            <a:off x="2016750" y="2541050"/>
            <a:ext cx="5066700" cy="88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100">
                <a:solidFill>
                  <a:srgbClr val="000000"/>
                </a:solidFill>
                <a:highlight>
                  <a:srgbClr val="FFFFFF"/>
                </a:highlight>
                <a:latin typeface="Arial"/>
                <a:ea typeface="Arial"/>
                <a:cs typeface="Arial"/>
                <a:sym typeface="Arial"/>
              </a:rPr>
              <a:t>trump campaign: female judges could be biased, too he must hate women</a:t>
            </a:r>
            <a:endParaRPr sz="1400">
              <a:solidFill>
                <a:srgbClr val="000000"/>
              </a:solidFill>
              <a:latin typeface="Helvetica Neue"/>
              <a:ea typeface="Helvetica Neue"/>
              <a:cs typeface="Helvetica Neue"/>
              <a:sym typeface="Helvetica Neue"/>
            </a:endParaRPr>
          </a:p>
          <a:p>
            <a:pPr indent="0" lvl="0" marL="0" rtl="0" algn="l">
              <a:spcBef>
                <a:spcPts val="600"/>
              </a:spcBef>
              <a:spcAft>
                <a:spcPts val="1600"/>
              </a:spcAft>
              <a:buNone/>
            </a:pPr>
            <a:r>
              <a:t/>
            </a:r>
            <a:endParaRPr/>
          </a:p>
        </p:txBody>
      </p:sp>
      <p:sp>
        <p:nvSpPr>
          <p:cNvPr id="184" name="Google Shape;184;p26"/>
          <p:cNvSpPr txBox="1"/>
          <p:nvPr/>
        </p:nvSpPr>
        <p:spPr>
          <a:xfrm>
            <a:off x="388975" y="1105475"/>
            <a:ext cx="5643300" cy="6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700"/>
              <a:t>False positive by LSTM, but True negative by BERT</a:t>
            </a:r>
            <a:endParaRPr b="1"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8" name="Shape 188"/>
        <p:cNvGrpSpPr/>
        <p:nvPr/>
      </p:nvGrpSpPr>
      <p:grpSpPr>
        <a:xfrm>
          <a:off x="0" y="0"/>
          <a:ext cx="0" cy="0"/>
          <a:chOff x="0" y="0"/>
          <a:chExt cx="0" cy="0"/>
        </a:xfrm>
      </p:grpSpPr>
      <p:sp>
        <p:nvSpPr>
          <p:cNvPr id="189" name="Google Shape;189;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3D85C6"/>
                </a:solidFill>
              </a:rPr>
              <a:t>Error Analysis</a:t>
            </a:r>
            <a:endParaRPr>
              <a:solidFill>
                <a:srgbClr val="3D85C6"/>
              </a:solidFill>
            </a:endParaRPr>
          </a:p>
        </p:txBody>
      </p:sp>
      <p:pic>
        <p:nvPicPr>
          <p:cNvPr id="190" name="Google Shape;190;p27"/>
          <p:cNvPicPr preferRelativeResize="0"/>
          <p:nvPr/>
        </p:nvPicPr>
        <p:blipFill>
          <a:blip r:embed="rId3">
            <a:alphaModFix/>
          </a:blip>
          <a:stretch>
            <a:fillRect/>
          </a:stretch>
        </p:blipFill>
        <p:spPr>
          <a:xfrm>
            <a:off x="1676950" y="1721975"/>
            <a:ext cx="5992022" cy="2467350"/>
          </a:xfrm>
          <a:prstGeom prst="rect">
            <a:avLst/>
          </a:prstGeom>
          <a:noFill/>
          <a:ln>
            <a:noFill/>
          </a:ln>
        </p:spPr>
      </p:pic>
      <p:sp>
        <p:nvSpPr>
          <p:cNvPr id="191" name="Google Shape;191;p27"/>
          <p:cNvSpPr/>
          <p:nvPr/>
        </p:nvSpPr>
        <p:spPr>
          <a:xfrm>
            <a:off x="2016750" y="2501325"/>
            <a:ext cx="5110500" cy="881700"/>
          </a:xfrm>
          <a:prstGeom prst="rect">
            <a:avLst/>
          </a:prstGeom>
          <a:solidFill>
            <a:srgbClr val="F3F3F3"/>
          </a:soli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txBox="1"/>
          <p:nvPr>
            <p:ph idx="1" type="body"/>
          </p:nvPr>
        </p:nvSpPr>
        <p:spPr>
          <a:xfrm>
            <a:off x="2175825" y="2514800"/>
            <a:ext cx="4907400" cy="88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100">
                <a:solidFill>
                  <a:srgbClr val="000000"/>
                </a:solidFill>
                <a:highlight>
                  <a:srgbClr val="FFFFFF"/>
                </a:highlight>
                <a:latin typeface="Arial"/>
                <a:ea typeface="Arial"/>
                <a:cs typeface="Arial"/>
                <a:sym typeface="Arial"/>
              </a:rPr>
              <a:t>al capone was jailed for tax evasion, not murders he committed. what is @user 's achilles heel? #unpresidented #nohate </a:t>
            </a:r>
            <a:endParaRPr sz="1700">
              <a:solidFill>
                <a:srgbClr val="000000"/>
              </a:solidFill>
              <a:latin typeface="Helvetica Neue"/>
              <a:ea typeface="Helvetica Neue"/>
              <a:cs typeface="Helvetica Neue"/>
              <a:sym typeface="Helvetica Neue"/>
            </a:endParaRPr>
          </a:p>
          <a:p>
            <a:pPr indent="0" lvl="0" marL="0" rtl="0" algn="l">
              <a:spcBef>
                <a:spcPts val="600"/>
              </a:spcBef>
              <a:spcAft>
                <a:spcPts val="1600"/>
              </a:spcAft>
              <a:buNone/>
            </a:pPr>
            <a:r>
              <a:t/>
            </a:r>
            <a:endParaRPr/>
          </a:p>
        </p:txBody>
      </p:sp>
      <p:sp>
        <p:nvSpPr>
          <p:cNvPr id="193" name="Google Shape;193;p27"/>
          <p:cNvSpPr txBox="1"/>
          <p:nvPr/>
        </p:nvSpPr>
        <p:spPr>
          <a:xfrm>
            <a:off x="422000" y="1061600"/>
            <a:ext cx="7195500" cy="6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700"/>
              <a:t>False negatives by BERT but True positive by LSTM</a:t>
            </a:r>
            <a:endParaRPr b="1"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Conclusions</a:t>
            </a:r>
            <a:endParaRPr/>
          </a:p>
        </p:txBody>
      </p:sp>
      <p:sp>
        <p:nvSpPr>
          <p:cNvPr id="199" name="Google Shape;199;p28"/>
          <p:cNvSpPr txBox="1"/>
          <p:nvPr>
            <p:ph idx="1" type="body"/>
          </p:nvPr>
        </p:nvSpPr>
        <p:spPr>
          <a:xfrm>
            <a:off x="311700" y="1424925"/>
            <a:ext cx="8520600" cy="2491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BERT </a:t>
            </a:r>
            <a:r>
              <a:rPr lang="en-GB"/>
              <a:t>achieve</a:t>
            </a:r>
            <a:r>
              <a:rPr lang="en-GB"/>
              <a:t> the best performance in classification.</a:t>
            </a:r>
            <a:endParaRPr/>
          </a:p>
          <a:p>
            <a:pPr indent="-342900" lvl="0" marL="457200" rtl="0" algn="l">
              <a:lnSpc>
                <a:spcPct val="150000"/>
              </a:lnSpc>
              <a:spcBef>
                <a:spcPts val="0"/>
              </a:spcBef>
              <a:spcAft>
                <a:spcPts val="0"/>
              </a:spcAft>
              <a:buSzPts val="1800"/>
              <a:buChar char="●"/>
            </a:pPr>
            <a:r>
              <a:rPr lang="en-GB"/>
              <a:t>Both Models get higher accuracy than original davidson et al. results.</a:t>
            </a:r>
            <a:endParaRPr/>
          </a:p>
          <a:p>
            <a:pPr indent="-342900" lvl="0" marL="457200" rtl="0" algn="l">
              <a:lnSpc>
                <a:spcPct val="150000"/>
              </a:lnSpc>
              <a:spcBef>
                <a:spcPts val="0"/>
              </a:spcBef>
              <a:spcAft>
                <a:spcPts val="0"/>
              </a:spcAft>
              <a:buSzPts val="1800"/>
              <a:buChar char="●"/>
            </a:pPr>
            <a:r>
              <a:rPr lang="en-GB"/>
              <a:t>Both Models were able to handle unbalanced classes better.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Future Work</a:t>
            </a:r>
            <a:endParaRPr/>
          </a:p>
        </p:txBody>
      </p:sp>
      <p:pic>
        <p:nvPicPr>
          <p:cNvPr id="205" name="Google Shape;205;p29"/>
          <p:cNvPicPr preferRelativeResize="0"/>
          <p:nvPr/>
        </p:nvPicPr>
        <p:blipFill>
          <a:blip r:embed="rId3">
            <a:alphaModFix/>
          </a:blip>
          <a:stretch>
            <a:fillRect/>
          </a:stretch>
        </p:blipFill>
        <p:spPr>
          <a:xfrm>
            <a:off x="782100" y="1799825"/>
            <a:ext cx="1130374" cy="1098924"/>
          </a:xfrm>
          <a:prstGeom prst="rect">
            <a:avLst/>
          </a:prstGeom>
          <a:noFill/>
          <a:ln>
            <a:noFill/>
          </a:ln>
        </p:spPr>
      </p:pic>
      <p:sp>
        <p:nvSpPr>
          <p:cNvPr id="206" name="Google Shape;206;p29"/>
          <p:cNvSpPr txBox="1"/>
          <p:nvPr/>
        </p:nvSpPr>
        <p:spPr>
          <a:xfrm>
            <a:off x="588313" y="3037925"/>
            <a:ext cx="1809600" cy="9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Big dataset for training.</a:t>
            </a:r>
            <a:endParaRPr>
              <a:solidFill>
                <a:schemeClr val="dk1"/>
              </a:solidFill>
              <a:latin typeface="Average"/>
              <a:ea typeface="Average"/>
              <a:cs typeface="Average"/>
              <a:sym typeface="Average"/>
            </a:endParaRPr>
          </a:p>
        </p:txBody>
      </p:sp>
      <p:pic>
        <p:nvPicPr>
          <p:cNvPr id="207" name="Google Shape;207;p29"/>
          <p:cNvPicPr preferRelativeResize="0"/>
          <p:nvPr/>
        </p:nvPicPr>
        <p:blipFill>
          <a:blip r:embed="rId4">
            <a:alphaModFix/>
          </a:blip>
          <a:stretch>
            <a:fillRect/>
          </a:stretch>
        </p:blipFill>
        <p:spPr>
          <a:xfrm>
            <a:off x="3478250" y="1647350"/>
            <a:ext cx="1211600" cy="1211600"/>
          </a:xfrm>
          <a:prstGeom prst="rect">
            <a:avLst/>
          </a:prstGeom>
          <a:noFill/>
          <a:ln>
            <a:noFill/>
          </a:ln>
        </p:spPr>
      </p:pic>
      <p:sp>
        <p:nvSpPr>
          <p:cNvPr id="208" name="Google Shape;208;p29"/>
          <p:cNvSpPr txBox="1"/>
          <p:nvPr/>
        </p:nvSpPr>
        <p:spPr>
          <a:xfrm>
            <a:off x="3348300" y="3037925"/>
            <a:ext cx="1471500" cy="12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Develop</a:t>
            </a:r>
            <a:r>
              <a:rPr lang="en-GB">
                <a:solidFill>
                  <a:schemeClr val="dk1"/>
                </a:solidFill>
                <a:latin typeface="Average"/>
                <a:ea typeface="Average"/>
                <a:cs typeface="Average"/>
                <a:sym typeface="Average"/>
              </a:rPr>
              <a:t>  better word Embedding for slang words and </a:t>
            </a:r>
            <a:r>
              <a:rPr lang="en-GB">
                <a:solidFill>
                  <a:schemeClr val="dk1"/>
                </a:solidFill>
                <a:latin typeface="Average"/>
                <a:ea typeface="Average"/>
                <a:cs typeface="Average"/>
                <a:sym typeface="Average"/>
              </a:rPr>
              <a:t>abbreviations</a:t>
            </a:r>
            <a:endParaRPr>
              <a:solidFill>
                <a:schemeClr val="dk1"/>
              </a:solidFill>
              <a:latin typeface="Average"/>
              <a:ea typeface="Average"/>
              <a:cs typeface="Average"/>
              <a:sym typeface="Average"/>
            </a:endParaRPr>
          </a:p>
        </p:txBody>
      </p:sp>
      <p:pic>
        <p:nvPicPr>
          <p:cNvPr id="209" name="Google Shape;209;p29"/>
          <p:cNvPicPr preferRelativeResize="0"/>
          <p:nvPr/>
        </p:nvPicPr>
        <p:blipFill rotWithShape="1">
          <a:blip r:embed="rId5">
            <a:alphaModFix/>
          </a:blip>
          <a:srcRect b="0" l="0" r="10007" t="0"/>
          <a:stretch/>
        </p:blipFill>
        <p:spPr>
          <a:xfrm>
            <a:off x="5957775" y="1718500"/>
            <a:ext cx="1643274" cy="927900"/>
          </a:xfrm>
          <a:prstGeom prst="rect">
            <a:avLst/>
          </a:prstGeom>
          <a:noFill/>
          <a:ln>
            <a:noFill/>
          </a:ln>
        </p:spPr>
      </p:pic>
      <p:sp>
        <p:nvSpPr>
          <p:cNvPr id="210" name="Google Shape;210;p29"/>
          <p:cNvSpPr txBox="1"/>
          <p:nvPr/>
        </p:nvSpPr>
        <p:spPr>
          <a:xfrm>
            <a:off x="6009600" y="3031300"/>
            <a:ext cx="1809600" cy="9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Average"/>
                <a:ea typeface="Average"/>
                <a:cs typeface="Average"/>
                <a:sym typeface="Average"/>
              </a:rPr>
              <a:t>Cross lingual unified model for non english languages</a:t>
            </a:r>
            <a:endParaRPr>
              <a:solidFill>
                <a:schemeClr val="dk1"/>
              </a:solidFill>
              <a:latin typeface="Average"/>
              <a:ea typeface="Average"/>
              <a:cs typeface="Average"/>
              <a:sym typeface="Average"/>
            </a:endParaRPr>
          </a:p>
        </p:txBody>
      </p:sp>
      <p:sp>
        <p:nvSpPr>
          <p:cNvPr id="211" name="Google Shape;211;p29"/>
          <p:cNvSpPr/>
          <p:nvPr/>
        </p:nvSpPr>
        <p:spPr>
          <a:xfrm>
            <a:off x="6659825" y="1848100"/>
            <a:ext cx="941100" cy="6687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38100" rtl="0" algn="l">
              <a:lnSpc>
                <a:spcPct val="128571"/>
              </a:lnSpc>
              <a:spcBef>
                <a:spcPts val="0"/>
              </a:spcBef>
              <a:spcAft>
                <a:spcPts val="0"/>
              </a:spcAft>
              <a:buNone/>
            </a:pPr>
            <a:r>
              <a:rPr b="1" lang="en-GB" sz="2100">
                <a:solidFill>
                  <a:srgbClr val="222222"/>
                </a:solidFill>
                <a:highlight>
                  <a:srgbClr val="F8F9FA"/>
                </a:highlight>
                <a:latin typeface="Lobster"/>
                <a:ea typeface="Lobster"/>
                <a:cs typeface="Lobster"/>
                <a:sym typeface="Lobster"/>
              </a:rPr>
              <a:t>odio</a:t>
            </a:r>
            <a:endParaRPr b="1">
              <a:highlight>
                <a:schemeClr val="dk1"/>
              </a:highlight>
              <a:latin typeface="Lobster"/>
              <a:ea typeface="Lobster"/>
              <a:cs typeface="Lobster"/>
              <a:sym typeface="Lobs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Code repository on GitHub</a:t>
            </a:r>
            <a:endParaRPr/>
          </a:p>
        </p:txBody>
      </p:sp>
      <p:sp>
        <p:nvSpPr>
          <p:cNvPr id="217" name="Google Shape;217;p30"/>
          <p:cNvSpPr txBox="1"/>
          <p:nvPr>
            <p:ph idx="1" type="body"/>
          </p:nvPr>
        </p:nvSpPr>
        <p:spPr>
          <a:xfrm>
            <a:off x="311700" y="1554850"/>
            <a:ext cx="8520600" cy="1494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GB" sz="2500"/>
              <a:t>https://github.com/ramiabulfadl/Hate-detection</a:t>
            </a:r>
            <a:endParaRPr sz="2500"/>
          </a:p>
        </p:txBody>
      </p:sp>
      <p:pic>
        <p:nvPicPr>
          <p:cNvPr id="218" name="Google Shape;218;p30"/>
          <p:cNvPicPr preferRelativeResize="0"/>
          <p:nvPr/>
        </p:nvPicPr>
        <p:blipFill>
          <a:blip r:embed="rId3">
            <a:alphaModFix/>
          </a:blip>
          <a:stretch>
            <a:fillRect/>
          </a:stretch>
        </p:blipFill>
        <p:spPr>
          <a:xfrm>
            <a:off x="3248400" y="3110725"/>
            <a:ext cx="2528801" cy="17895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